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52" r:id="rId1"/>
  </p:sldMasterIdLst>
  <p:notesMasterIdLst>
    <p:notesMasterId r:id="rId17"/>
  </p:notesMasterIdLst>
  <p:handoutMasterIdLst>
    <p:handoutMasterId r:id="rId18"/>
  </p:handoutMasterIdLst>
  <p:sldIdLst>
    <p:sldId id="256" r:id="rId2"/>
    <p:sldId id="536" r:id="rId3"/>
    <p:sldId id="333" r:id="rId4"/>
    <p:sldId id="556" r:id="rId5"/>
    <p:sldId id="334" r:id="rId6"/>
    <p:sldId id="561" r:id="rId7"/>
    <p:sldId id="566" r:id="rId8"/>
    <p:sldId id="560" r:id="rId9"/>
    <p:sldId id="563" r:id="rId10"/>
    <p:sldId id="565" r:id="rId11"/>
    <p:sldId id="564" r:id="rId12"/>
    <p:sldId id="552" r:id="rId13"/>
    <p:sldId id="567" r:id="rId14"/>
    <p:sldId id="568" r:id="rId15"/>
    <p:sldId id="555" r:id="rId16"/>
  </p:sldIdLst>
  <p:sldSz cx="9144000" cy="5143500" type="screen16x9"/>
  <p:notesSz cx="6858000" cy="9144000"/>
  <p:embeddedFontLst>
    <p:embeddedFont>
      <p:font typeface="Arabic Typesetting" panose="03020402040406030203" pitchFamily="66" charset="-78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Shabnam" panose="020B0604020202020204" charset="0"/>
      <p:regular r:id="rId26"/>
      <p:bold r:id="rId27"/>
    </p:embeddedFont>
    <p:embeddedFont>
      <p:font typeface="Tahoma" panose="020B0604030504040204" pitchFamily="34" charset="0"/>
      <p:regular r:id="rId28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B9BE"/>
    <a:srgbClr val="999DA4"/>
    <a:srgbClr val="10017D"/>
    <a:srgbClr val="5479A2"/>
    <a:srgbClr val="5D68BB"/>
    <a:srgbClr val="EBF0F5"/>
    <a:srgbClr val="D9E2EB"/>
    <a:srgbClr val="2F435A"/>
    <a:srgbClr val="4245CA"/>
    <a:srgbClr val="425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C8BEEF-C798-42C3-9C6E-88BFA47124E8}">
  <a:tblStyle styleId="{9AC8BEEF-C798-42C3-9C6E-88BFA47124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8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E605AD-9CE0-4B12-80CF-98FE74B31BE0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CE7518-A07A-48AC-B1DF-2A9140DAF0B1}">
      <dgm:prSet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Question</a:t>
          </a:r>
          <a:endParaRPr lang="en-US" sz="1200" dirty="0"/>
        </a:p>
      </dgm:t>
    </dgm:pt>
    <dgm:pt modelId="{8D5114E2-B87F-4A27-B9A7-5C327752A45A}" type="parTrans" cxnId="{8891EB17-2E22-4575-B5D6-28F56098C28D}">
      <dgm:prSet/>
      <dgm:spPr/>
      <dgm:t>
        <a:bodyPr/>
        <a:lstStyle/>
        <a:p>
          <a:endParaRPr lang="en-US"/>
        </a:p>
      </dgm:t>
    </dgm:pt>
    <dgm:pt modelId="{BE000272-AA23-401A-88A8-2717A059DCD0}" type="sibTrans" cxnId="{8891EB17-2E22-4575-B5D6-28F56098C28D}">
      <dgm:prSet/>
      <dgm:spPr/>
      <dgm:t>
        <a:bodyPr/>
        <a:lstStyle/>
        <a:p>
          <a:endParaRPr lang="en-US"/>
        </a:p>
      </dgm:t>
    </dgm:pt>
    <dgm:pt modelId="{D6BFC863-7E8D-4899-B0AF-82C8236B88A2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Retriever</a:t>
          </a:r>
          <a:endParaRPr lang="en-US" dirty="0"/>
        </a:p>
      </dgm:t>
    </dgm:pt>
    <dgm:pt modelId="{684CCDEB-3898-4E08-982E-764916989B0D}" type="parTrans" cxnId="{8C5C2455-954B-49D1-9DCC-0206A8C3E3CB}">
      <dgm:prSet/>
      <dgm:spPr/>
      <dgm:t>
        <a:bodyPr/>
        <a:lstStyle/>
        <a:p>
          <a:endParaRPr lang="en-US"/>
        </a:p>
      </dgm:t>
    </dgm:pt>
    <dgm:pt modelId="{6FDDD243-519D-4386-813F-FBDAB368F36F}" type="sibTrans" cxnId="{8C5C2455-954B-49D1-9DCC-0206A8C3E3CB}">
      <dgm:prSet/>
      <dgm:spPr/>
      <dgm:t>
        <a:bodyPr/>
        <a:lstStyle/>
        <a:p>
          <a:endParaRPr lang="en-US"/>
        </a:p>
      </dgm:t>
    </dgm:pt>
    <dgm:pt modelId="{96D2E499-B7BB-47F6-8ABE-B191BDE3B799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Relevant Documents</a:t>
          </a:r>
          <a:endParaRPr lang="en-US" dirty="0"/>
        </a:p>
      </dgm:t>
    </dgm:pt>
    <dgm:pt modelId="{C5E7F3FE-96DF-4F02-A6C7-94D7B5DD3858}" type="parTrans" cxnId="{DBB0498F-8734-4BCC-AF19-E0A56C2CDA20}">
      <dgm:prSet/>
      <dgm:spPr/>
      <dgm:t>
        <a:bodyPr/>
        <a:lstStyle/>
        <a:p>
          <a:endParaRPr lang="en-US"/>
        </a:p>
      </dgm:t>
    </dgm:pt>
    <dgm:pt modelId="{82982A82-243B-453C-9251-4D17BA332E90}" type="sibTrans" cxnId="{DBB0498F-8734-4BCC-AF19-E0A56C2CDA20}">
      <dgm:prSet/>
      <dgm:spPr/>
      <dgm:t>
        <a:bodyPr/>
        <a:lstStyle/>
        <a:p>
          <a:endParaRPr lang="en-US"/>
        </a:p>
      </dgm:t>
    </dgm:pt>
    <dgm:pt modelId="{B8B0750C-C243-46F7-81D6-5BA474F04B1B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Generator</a:t>
          </a:r>
          <a:endParaRPr lang="en-US" dirty="0"/>
        </a:p>
      </dgm:t>
    </dgm:pt>
    <dgm:pt modelId="{9F8AA86A-8D6D-4C5B-BD68-9715DE628376}" type="parTrans" cxnId="{8F516EE4-8779-4BEA-B5AA-5854A895AD59}">
      <dgm:prSet/>
      <dgm:spPr/>
      <dgm:t>
        <a:bodyPr/>
        <a:lstStyle/>
        <a:p>
          <a:endParaRPr lang="en-US"/>
        </a:p>
      </dgm:t>
    </dgm:pt>
    <dgm:pt modelId="{B42C32D7-5518-4F0C-83E4-103B06802615}" type="sibTrans" cxnId="{8F516EE4-8779-4BEA-B5AA-5854A895AD59}">
      <dgm:prSet/>
      <dgm:spPr/>
      <dgm:t>
        <a:bodyPr/>
        <a:lstStyle/>
        <a:p>
          <a:endParaRPr lang="en-US"/>
        </a:p>
      </dgm:t>
    </dgm:pt>
    <dgm:pt modelId="{5AC484D7-5D4E-4A91-A3E3-865E27D89CFF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Answer</a:t>
          </a:r>
          <a:endParaRPr lang="en-US" dirty="0"/>
        </a:p>
      </dgm:t>
    </dgm:pt>
    <dgm:pt modelId="{38EC357F-D107-45B2-8392-03AD56645777}" type="parTrans" cxnId="{E5790783-CDF9-4E56-9286-55376B6CA765}">
      <dgm:prSet/>
      <dgm:spPr/>
      <dgm:t>
        <a:bodyPr/>
        <a:lstStyle/>
        <a:p>
          <a:endParaRPr lang="en-US"/>
        </a:p>
      </dgm:t>
    </dgm:pt>
    <dgm:pt modelId="{AB9B6F4D-2E3B-45FF-86FB-B7F4F2D74C48}" type="sibTrans" cxnId="{E5790783-CDF9-4E56-9286-55376B6CA765}">
      <dgm:prSet/>
      <dgm:spPr/>
      <dgm:t>
        <a:bodyPr/>
        <a:lstStyle/>
        <a:p>
          <a:endParaRPr lang="en-US"/>
        </a:p>
      </dgm:t>
    </dgm:pt>
    <dgm:pt modelId="{ED67BB29-6DDD-4947-98E7-59D0492A7F0B}" type="pres">
      <dgm:prSet presAssocID="{AAE605AD-9CE0-4B12-80CF-98FE74B31BE0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ABC86CC-D0D1-4782-96F6-016F373CF0BB}" type="pres">
      <dgm:prSet presAssocID="{17CE7518-A07A-48AC-B1DF-2A9140DAF0B1}" presName="Accent1" presStyleCnt="0"/>
      <dgm:spPr/>
    </dgm:pt>
    <dgm:pt modelId="{A377C8D3-EDD8-4B42-B9B3-B798F59F51DB}" type="pres">
      <dgm:prSet presAssocID="{17CE7518-A07A-48AC-B1DF-2A9140DAF0B1}" presName="Accent" presStyleLbl="node1" presStyleIdx="0" presStyleCnt="5" custScaleX="98242"/>
      <dgm:spPr/>
    </dgm:pt>
    <dgm:pt modelId="{679766BA-5EA7-40D1-9A03-F3ABA4D04CB7}" type="pres">
      <dgm:prSet presAssocID="{17CE7518-A07A-48AC-B1DF-2A9140DAF0B1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0513FA57-3CCD-4600-8B8E-638BC1FACD4B}" type="pres">
      <dgm:prSet presAssocID="{D6BFC863-7E8D-4899-B0AF-82C8236B88A2}" presName="Accent2" presStyleCnt="0"/>
      <dgm:spPr/>
    </dgm:pt>
    <dgm:pt modelId="{686150F3-357B-4C6E-B14A-29081F731F16}" type="pres">
      <dgm:prSet presAssocID="{D6BFC863-7E8D-4899-B0AF-82C8236B88A2}" presName="Accent" presStyleLbl="node1" presStyleIdx="1" presStyleCnt="5"/>
      <dgm:spPr/>
    </dgm:pt>
    <dgm:pt modelId="{E08196BD-9F0A-4AEF-B4B8-CCB2D6E8BB1B}" type="pres">
      <dgm:prSet presAssocID="{D6BFC863-7E8D-4899-B0AF-82C8236B88A2}" presName="Parent2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4CAA9BFF-E5CF-40D3-A100-EA9CEB308856}" type="pres">
      <dgm:prSet presAssocID="{96D2E499-B7BB-47F6-8ABE-B191BDE3B799}" presName="Accent3" presStyleCnt="0"/>
      <dgm:spPr/>
    </dgm:pt>
    <dgm:pt modelId="{B6868A36-410B-4475-BE6D-E8228CF91E03}" type="pres">
      <dgm:prSet presAssocID="{96D2E499-B7BB-47F6-8ABE-B191BDE3B799}" presName="Accent" presStyleLbl="node1" presStyleIdx="2" presStyleCnt="5"/>
      <dgm:spPr/>
    </dgm:pt>
    <dgm:pt modelId="{1236AE1E-6630-44F3-958F-4347CEAEC71A}" type="pres">
      <dgm:prSet presAssocID="{96D2E499-B7BB-47F6-8ABE-B191BDE3B799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A1BF85F8-5D73-4DB0-8DBD-3921128F7686}" type="pres">
      <dgm:prSet presAssocID="{B8B0750C-C243-46F7-81D6-5BA474F04B1B}" presName="Accent4" presStyleCnt="0"/>
      <dgm:spPr/>
    </dgm:pt>
    <dgm:pt modelId="{3C01F681-1C3F-4C24-B4DF-66EDE6178EC1}" type="pres">
      <dgm:prSet presAssocID="{B8B0750C-C243-46F7-81D6-5BA474F04B1B}" presName="Accent" presStyleLbl="node1" presStyleIdx="3" presStyleCnt="5"/>
      <dgm:spPr/>
    </dgm:pt>
    <dgm:pt modelId="{EFEB9051-5B4C-4F47-81A2-443E95D17D26}" type="pres">
      <dgm:prSet presAssocID="{B8B0750C-C243-46F7-81D6-5BA474F04B1B}" presName="Parent4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121CA739-CB0F-4DD6-AB02-56FE19A0A9E0}" type="pres">
      <dgm:prSet presAssocID="{5AC484D7-5D4E-4A91-A3E3-865E27D89CFF}" presName="Accent5" presStyleCnt="0"/>
      <dgm:spPr/>
    </dgm:pt>
    <dgm:pt modelId="{1A0F737C-0FDE-4DC5-B130-D07DA6ED5671}" type="pres">
      <dgm:prSet presAssocID="{5AC484D7-5D4E-4A91-A3E3-865E27D89CFF}" presName="Accent" presStyleLbl="node1" presStyleIdx="4" presStyleCnt="5"/>
      <dgm:spPr/>
    </dgm:pt>
    <dgm:pt modelId="{FA8D1482-2E1E-4743-B7F2-7436E9B5E50B}" type="pres">
      <dgm:prSet presAssocID="{5AC484D7-5D4E-4A91-A3E3-865E27D89CFF}" presName="Parent5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88694000-30A7-4A4F-BA97-5188B68408B4}" type="presOf" srcId="{96D2E499-B7BB-47F6-8ABE-B191BDE3B799}" destId="{1236AE1E-6630-44F3-958F-4347CEAEC71A}" srcOrd="0" destOrd="0" presId="urn:microsoft.com/office/officeart/2009/layout/CircleArrowProcess"/>
    <dgm:cxn modelId="{8891EB17-2E22-4575-B5D6-28F56098C28D}" srcId="{AAE605AD-9CE0-4B12-80CF-98FE74B31BE0}" destId="{17CE7518-A07A-48AC-B1DF-2A9140DAF0B1}" srcOrd="0" destOrd="0" parTransId="{8D5114E2-B87F-4A27-B9A7-5C327752A45A}" sibTransId="{BE000272-AA23-401A-88A8-2717A059DCD0}"/>
    <dgm:cxn modelId="{24F4182C-7AEE-446A-AF0E-02FE4A0CE6A7}" type="presOf" srcId="{B8B0750C-C243-46F7-81D6-5BA474F04B1B}" destId="{EFEB9051-5B4C-4F47-81A2-443E95D17D26}" srcOrd="0" destOrd="0" presId="urn:microsoft.com/office/officeart/2009/layout/CircleArrowProcess"/>
    <dgm:cxn modelId="{FFDE8E34-E510-4FA7-B9FE-2C14C831BD67}" type="presOf" srcId="{AAE605AD-9CE0-4B12-80CF-98FE74B31BE0}" destId="{ED67BB29-6DDD-4947-98E7-59D0492A7F0B}" srcOrd="0" destOrd="0" presId="urn:microsoft.com/office/officeart/2009/layout/CircleArrowProcess"/>
    <dgm:cxn modelId="{148C0441-0421-4DC8-8545-882A40F1C79A}" type="presOf" srcId="{5AC484D7-5D4E-4A91-A3E3-865E27D89CFF}" destId="{FA8D1482-2E1E-4743-B7F2-7436E9B5E50B}" srcOrd="0" destOrd="0" presId="urn:microsoft.com/office/officeart/2009/layout/CircleArrowProcess"/>
    <dgm:cxn modelId="{8C5C2455-954B-49D1-9DCC-0206A8C3E3CB}" srcId="{AAE605AD-9CE0-4B12-80CF-98FE74B31BE0}" destId="{D6BFC863-7E8D-4899-B0AF-82C8236B88A2}" srcOrd="1" destOrd="0" parTransId="{684CCDEB-3898-4E08-982E-764916989B0D}" sibTransId="{6FDDD243-519D-4386-813F-FBDAB368F36F}"/>
    <dgm:cxn modelId="{E5790783-CDF9-4E56-9286-55376B6CA765}" srcId="{AAE605AD-9CE0-4B12-80CF-98FE74B31BE0}" destId="{5AC484D7-5D4E-4A91-A3E3-865E27D89CFF}" srcOrd="4" destOrd="0" parTransId="{38EC357F-D107-45B2-8392-03AD56645777}" sibTransId="{AB9B6F4D-2E3B-45FF-86FB-B7F4F2D74C48}"/>
    <dgm:cxn modelId="{DBB0498F-8734-4BCC-AF19-E0A56C2CDA20}" srcId="{AAE605AD-9CE0-4B12-80CF-98FE74B31BE0}" destId="{96D2E499-B7BB-47F6-8ABE-B191BDE3B799}" srcOrd="2" destOrd="0" parTransId="{C5E7F3FE-96DF-4F02-A6C7-94D7B5DD3858}" sibTransId="{82982A82-243B-453C-9251-4D17BA332E90}"/>
    <dgm:cxn modelId="{59DD5595-B5CC-47CE-9040-0908F0FFC18C}" type="presOf" srcId="{D6BFC863-7E8D-4899-B0AF-82C8236B88A2}" destId="{E08196BD-9F0A-4AEF-B4B8-CCB2D6E8BB1B}" srcOrd="0" destOrd="0" presId="urn:microsoft.com/office/officeart/2009/layout/CircleArrowProcess"/>
    <dgm:cxn modelId="{CBDE31DA-8887-4B28-9A39-CAD966C995A8}" type="presOf" srcId="{17CE7518-A07A-48AC-B1DF-2A9140DAF0B1}" destId="{679766BA-5EA7-40D1-9A03-F3ABA4D04CB7}" srcOrd="0" destOrd="0" presId="urn:microsoft.com/office/officeart/2009/layout/CircleArrowProcess"/>
    <dgm:cxn modelId="{8F516EE4-8779-4BEA-B5AA-5854A895AD59}" srcId="{AAE605AD-9CE0-4B12-80CF-98FE74B31BE0}" destId="{B8B0750C-C243-46F7-81D6-5BA474F04B1B}" srcOrd="3" destOrd="0" parTransId="{9F8AA86A-8D6D-4C5B-BD68-9715DE628376}" sibTransId="{B42C32D7-5518-4F0C-83E4-103B06802615}"/>
    <dgm:cxn modelId="{DFB1F584-A697-400D-BD93-D01CF47F18AE}" type="presParOf" srcId="{ED67BB29-6DDD-4947-98E7-59D0492A7F0B}" destId="{8ABC86CC-D0D1-4782-96F6-016F373CF0BB}" srcOrd="0" destOrd="0" presId="urn:microsoft.com/office/officeart/2009/layout/CircleArrowProcess"/>
    <dgm:cxn modelId="{26841BD6-BB3F-434E-B235-C04BDCB332EE}" type="presParOf" srcId="{8ABC86CC-D0D1-4782-96F6-016F373CF0BB}" destId="{A377C8D3-EDD8-4B42-B9B3-B798F59F51DB}" srcOrd="0" destOrd="0" presId="urn:microsoft.com/office/officeart/2009/layout/CircleArrowProcess"/>
    <dgm:cxn modelId="{0D87E87D-6B03-4A9E-AF54-950451897A9D}" type="presParOf" srcId="{ED67BB29-6DDD-4947-98E7-59D0492A7F0B}" destId="{679766BA-5EA7-40D1-9A03-F3ABA4D04CB7}" srcOrd="1" destOrd="0" presId="urn:microsoft.com/office/officeart/2009/layout/CircleArrowProcess"/>
    <dgm:cxn modelId="{A3A871E0-66B5-41DA-B13D-78339BFB0E06}" type="presParOf" srcId="{ED67BB29-6DDD-4947-98E7-59D0492A7F0B}" destId="{0513FA57-3CCD-4600-8B8E-638BC1FACD4B}" srcOrd="2" destOrd="0" presId="urn:microsoft.com/office/officeart/2009/layout/CircleArrowProcess"/>
    <dgm:cxn modelId="{7ED97E51-3870-465A-B295-5293B58C4AD0}" type="presParOf" srcId="{0513FA57-3CCD-4600-8B8E-638BC1FACD4B}" destId="{686150F3-357B-4C6E-B14A-29081F731F16}" srcOrd="0" destOrd="0" presId="urn:microsoft.com/office/officeart/2009/layout/CircleArrowProcess"/>
    <dgm:cxn modelId="{3ADD7256-43D7-4079-8907-F84EBDB105F4}" type="presParOf" srcId="{ED67BB29-6DDD-4947-98E7-59D0492A7F0B}" destId="{E08196BD-9F0A-4AEF-B4B8-CCB2D6E8BB1B}" srcOrd="3" destOrd="0" presId="urn:microsoft.com/office/officeart/2009/layout/CircleArrowProcess"/>
    <dgm:cxn modelId="{ED998C52-523D-42FF-89D4-6D3D1EDA2BA9}" type="presParOf" srcId="{ED67BB29-6DDD-4947-98E7-59D0492A7F0B}" destId="{4CAA9BFF-E5CF-40D3-A100-EA9CEB308856}" srcOrd="4" destOrd="0" presId="urn:microsoft.com/office/officeart/2009/layout/CircleArrowProcess"/>
    <dgm:cxn modelId="{A2B06E97-346A-4252-AE2F-508BE3CB1656}" type="presParOf" srcId="{4CAA9BFF-E5CF-40D3-A100-EA9CEB308856}" destId="{B6868A36-410B-4475-BE6D-E8228CF91E03}" srcOrd="0" destOrd="0" presId="urn:microsoft.com/office/officeart/2009/layout/CircleArrowProcess"/>
    <dgm:cxn modelId="{608A0F09-D369-418B-8D68-692D3DD081F1}" type="presParOf" srcId="{ED67BB29-6DDD-4947-98E7-59D0492A7F0B}" destId="{1236AE1E-6630-44F3-958F-4347CEAEC71A}" srcOrd="5" destOrd="0" presId="urn:microsoft.com/office/officeart/2009/layout/CircleArrowProcess"/>
    <dgm:cxn modelId="{DC9895D3-324F-416D-8A40-F30645DA3357}" type="presParOf" srcId="{ED67BB29-6DDD-4947-98E7-59D0492A7F0B}" destId="{A1BF85F8-5D73-4DB0-8DBD-3921128F7686}" srcOrd="6" destOrd="0" presId="urn:microsoft.com/office/officeart/2009/layout/CircleArrowProcess"/>
    <dgm:cxn modelId="{F9384706-163F-426E-9D71-62DB939F00A1}" type="presParOf" srcId="{A1BF85F8-5D73-4DB0-8DBD-3921128F7686}" destId="{3C01F681-1C3F-4C24-B4DF-66EDE6178EC1}" srcOrd="0" destOrd="0" presId="urn:microsoft.com/office/officeart/2009/layout/CircleArrowProcess"/>
    <dgm:cxn modelId="{7E37CBDC-CD7E-4408-91F4-2C01F8902E6C}" type="presParOf" srcId="{ED67BB29-6DDD-4947-98E7-59D0492A7F0B}" destId="{EFEB9051-5B4C-4F47-81A2-443E95D17D26}" srcOrd="7" destOrd="0" presId="urn:microsoft.com/office/officeart/2009/layout/CircleArrowProcess"/>
    <dgm:cxn modelId="{4A7E1E22-31B5-4071-BC43-554AC9FC083A}" type="presParOf" srcId="{ED67BB29-6DDD-4947-98E7-59D0492A7F0B}" destId="{121CA739-CB0F-4DD6-AB02-56FE19A0A9E0}" srcOrd="8" destOrd="0" presId="urn:microsoft.com/office/officeart/2009/layout/CircleArrowProcess"/>
    <dgm:cxn modelId="{B61B4A1C-0D74-42D6-A17F-4AF43BD55909}" type="presParOf" srcId="{121CA739-CB0F-4DD6-AB02-56FE19A0A9E0}" destId="{1A0F737C-0FDE-4DC5-B130-D07DA6ED5671}" srcOrd="0" destOrd="0" presId="urn:microsoft.com/office/officeart/2009/layout/CircleArrowProcess"/>
    <dgm:cxn modelId="{7C6F64CF-482D-4C57-AFA8-B14A1FB051DA}" type="presParOf" srcId="{ED67BB29-6DDD-4947-98E7-59D0492A7F0B}" destId="{FA8D1482-2E1E-4743-B7F2-7436E9B5E50B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6EC7D8-EFAD-4A12-B5D3-D83FF17F22CE}" type="doc">
      <dgm:prSet loTypeId="urn:microsoft.com/office/officeart/2005/8/layout/chevron1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DC3B4A8-95AF-4C2E-A334-934C967AEE2E}">
      <dgm:prSet/>
      <dgm:spPr/>
      <dgm:t>
        <a:bodyPr/>
        <a:lstStyle/>
        <a:p>
          <a:r>
            <a:rPr lang="en-US" dirty="0"/>
            <a:t>Python</a:t>
          </a:r>
        </a:p>
      </dgm:t>
    </dgm:pt>
    <dgm:pt modelId="{F96ABBB0-D368-4491-9BC2-FAE08066C941}" type="parTrans" cxnId="{082F4396-0939-4343-8AC2-550DD8A526F7}">
      <dgm:prSet/>
      <dgm:spPr/>
      <dgm:t>
        <a:bodyPr/>
        <a:lstStyle/>
        <a:p>
          <a:endParaRPr lang="en-US"/>
        </a:p>
      </dgm:t>
    </dgm:pt>
    <dgm:pt modelId="{0EDADB2D-3260-488F-B011-E8565AE79732}" type="sibTrans" cxnId="{082F4396-0939-4343-8AC2-550DD8A526F7}">
      <dgm:prSet/>
      <dgm:spPr/>
      <dgm:t>
        <a:bodyPr/>
        <a:lstStyle/>
        <a:p>
          <a:endParaRPr lang="en-US"/>
        </a:p>
      </dgm:t>
    </dgm:pt>
    <dgm:pt modelId="{77AA3A1B-1FA9-4143-B839-DD71709E70D5}">
      <dgm:prSet/>
      <dgm:spPr/>
      <dgm:t>
        <a:bodyPr/>
        <a:lstStyle/>
        <a:p>
          <a:r>
            <a:rPr lang="en-US" dirty="0" err="1"/>
            <a:t>LangChain</a:t>
          </a:r>
          <a:endParaRPr lang="en-US" dirty="0"/>
        </a:p>
      </dgm:t>
    </dgm:pt>
    <dgm:pt modelId="{92123C42-DE48-45FC-BCCB-5D52161F3ABA}" type="parTrans" cxnId="{4BFABF63-5220-405C-8D91-BA75CBAEB6A0}">
      <dgm:prSet/>
      <dgm:spPr/>
      <dgm:t>
        <a:bodyPr/>
        <a:lstStyle/>
        <a:p>
          <a:endParaRPr lang="en-US"/>
        </a:p>
      </dgm:t>
    </dgm:pt>
    <dgm:pt modelId="{AE54749B-CCCB-4840-8053-C9E61AC825C9}" type="sibTrans" cxnId="{4BFABF63-5220-405C-8D91-BA75CBAEB6A0}">
      <dgm:prSet/>
      <dgm:spPr/>
      <dgm:t>
        <a:bodyPr/>
        <a:lstStyle/>
        <a:p>
          <a:endParaRPr lang="en-US"/>
        </a:p>
      </dgm:t>
    </dgm:pt>
    <dgm:pt modelId="{A184399B-B317-49C2-AF38-9A03CBBBD215}">
      <dgm:prSet/>
      <dgm:spPr/>
      <dgm:t>
        <a:bodyPr/>
        <a:lstStyle/>
        <a:p>
          <a:r>
            <a:rPr lang="en-US" dirty="0"/>
            <a:t>FAISS</a:t>
          </a:r>
        </a:p>
      </dgm:t>
    </dgm:pt>
    <dgm:pt modelId="{322990AA-A157-4D0D-905C-AA3B9F3F00DE}" type="parTrans" cxnId="{DCE6CD0F-418B-46FB-AEB0-006025DC487E}">
      <dgm:prSet/>
      <dgm:spPr/>
      <dgm:t>
        <a:bodyPr/>
        <a:lstStyle/>
        <a:p>
          <a:endParaRPr lang="en-US"/>
        </a:p>
      </dgm:t>
    </dgm:pt>
    <dgm:pt modelId="{B8A63348-0725-43B4-B571-DD14002F6312}" type="sibTrans" cxnId="{DCE6CD0F-418B-46FB-AEB0-006025DC487E}">
      <dgm:prSet/>
      <dgm:spPr/>
      <dgm:t>
        <a:bodyPr/>
        <a:lstStyle/>
        <a:p>
          <a:endParaRPr lang="en-US"/>
        </a:p>
      </dgm:t>
    </dgm:pt>
    <dgm:pt modelId="{79653226-E542-4FFF-AB01-D1CCEE729D27}">
      <dgm:prSet/>
      <dgm:spPr/>
      <dgm:t>
        <a:bodyPr/>
        <a:lstStyle/>
        <a:p>
          <a:r>
            <a:rPr lang="fa-IR" dirty="0"/>
            <a:t>5</a:t>
          </a:r>
          <a:endParaRPr lang="en-US" dirty="0"/>
        </a:p>
      </dgm:t>
    </dgm:pt>
    <dgm:pt modelId="{36823A94-39E4-48AC-A2E9-C9EADDCB0B13}" type="parTrans" cxnId="{B6EA5579-6E50-423E-BF9F-142F77F247E1}">
      <dgm:prSet/>
      <dgm:spPr/>
      <dgm:t>
        <a:bodyPr/>
        <a:lstStyle/>
        <a:p>
          <a:endParaRPr lang="en-US"/>
        </a:p>
      </dgm:t>
    </dgm:pt>
    <dgm:pt modelId="{C967166F-761A-4DF0-B45E-BC4AE05C3FCB}" type="sibTrans" cxnId="{B6EA5579-6E50-423E-BF9F-142F77F247E1}">
      <dgm:prSet/>
      <dgm:spPr/>
      <dgm:t>
        <a:bodyPr/>
        <a:lstStyle/>
        <a:p>
          <a:endParaRPr lang="en-US"/>
        </a:p>
      </dgm:t>
    </dgm:pt>
    <dgm:pt modelId="{81A84BDF-E10B-4812-AA5D-ED88073D0783}">
      <dgm:prSet/>
      <dgm:spPr/>
      <dgm:t>
        <a:bodyPr/>
        <a:lstStyle/>
        <a:p>
          <a:r>
            <a:rPr lang="en-US" dirty="0" err="1"/>
            <a:t>Gradio</a:t>
          </a:r>
          <a:endParaRPr lang="en-US" dirty="0"/>
        </a:p>
      </dgm:t>
    </dgm:pt>
    <dgm:pt modelId="{798C36CD-1A4C-4FE9-8FEC-ADC0ACEEE821}" type="sibTrans" cxnId="{70163D04-7BA0-469C-BEEB-D3EDC7B86F83}">
      <dgm:prSet/>
      <dgm:spPr/>
      <dgm:t>
        <a:bodyPr/>
        <a:lstStyle/>
        <a:p>
          <a:endParaRPr lang="en-US"/>
        </a:p>
      </dgm:t>
    </dgm:pt>
    <dgm:pt modelId="{9649039D-414E-4159-B284-99F09394FAF5}" type="parTrans" cxnId="{70163D04-7BA0-469C-BEEB-D3EDC7B86F83}">
      <dgm:prSet/>
      <dgm:spPr/>
      <dgm:t>
        <a:bodyPr/>
        <a:lstStyle/>
        <a:p>
          <a:endParaRPr lang="en-US"/>
        </a:p>
      </dgm:t>
    </dgm:pt>
    <dgm:pt modelId="{B24962E4-1D47-44C1-B574-F20FCE5804E6}" type="pres">
      <dgm:prSet presAssocID="{796EC7D8-EFAD-4A12-B5D3-D83FF17F22CE}" presName="Name0" presStyleCnt="0">
        <dgm:presLayoutVars>
          <dgm:dir/>
          <dgm:animLvl val="lvl"/>
          <dgm:resizeHandles val="exact"/>
        </dgm:presLayoutVars>
      </dgm:prSet>
      <dgm:spPr/>
    </dgm:pt>
    <dgm:pt modelId="{55CB3CE6-6F56-4981-9CE7-481A1608A5D6}" type="pres">
      <dgm:prSet presAssocID="{DDC3B4A8-95AF-4C2E-A334-934C967AEE2E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844739B4-ECA1-4149-A698-FC6B5C2D44F4}" type="pres">
      <dgm:prSet presAssocID="{0EDADB2D-3260-488F-B011-E8565AE79732}" presName="parTxOnlySpace" presStyleCnt="0"/>
      <dgm:spPr/>
    </dgm:pt>
    <dgm:pt modelId="{C7488717-58D3-4370-97D0-3580CDF265C1}" type="pres">
      <dgm:prSet presAssocID="{77AA3A1B-1FA9-4143-B839-DD71709E70D5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B8D9B13-80E4-4384-A418-F7C10DD4BBE0}" type="pres">
      <dgm:prSet presAssocID="{AE54749B-CCCB-4840-8053-C9E61AC825C9}" presName="parTxOnlySpace" presStyleCnt="0"/>
      <dgm:spPr/>
    </dgm:pt>
    <dgm:pt modelId="{E6E64AD7-6524-41E0-9044-F92E5AAFE682}" type="pres">
      <dgm:prSet presAssocID="{A184399B-B317-49C2-AF38-9A03CBBBD215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91B6AEF-D9EE-4EAC-AB2B-3ADA7CAFF651}" type="pres">
      <dgm:prSet presAssocID="{B8A63348-0725-43B4-B571-DD14002F6312}" presName="parTxOnlySpace" presStyleCnt="0"/>
      <dgm:spPr/>
    </dgm:pt>
    <dgm:pt modelId="{CF6AA664-6E77-428F-B019-B3D221F6FEDB}" type="pres">
      <dgm:prSet presAssocID="{81A84BDF-E10B-4812-AA5D-ED88073D0783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3760EC0-1171-418A-A58C-6B47DBD356DB}" type="pres">
      <dgm:prSet presAssocID="{798C36CD-1A4C-4FE9-8FEC-ADC0ACEEE821}" presName="parTxOnlySpace" presStyleCnt="0"/>
      <dgm:spPr/>
    </dgm:pt>
    <dgm:pt modelId="{274BBD63-F489-4876-A0EC-7A254FC98D0B}" type="pres">
      <dgm:prSet presAssocID="{79653226-E542-4FFF-AB01-D1CCEE729D27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0163D04-7BA0-469C-BEEB-D3EDC7B86F83}" srcId="{796EC7D8-EFAD-4A12-B5D3-D83FF17F22CE}" destId="{81A84BDF-E10B-4812-AA5D-ED88073D0783}" srcOrd="3" destOrd="0" parTransId="{9649039D-414E-4159-B284-99F09394FAF5}" sibTransId="{798C36CD-1A4C-4FE9-8FEC-ADC0ACEEE821}"/>
    <dgm:cxn modelId="{E8847706-314C-49AD-B243-5CFBF134F9CA}" type="presOf" srcId="{796EC7D8-EFAD-4A12-B5D3-D83FF17F22CE}" destId="{B24962E4-1D47-44C1-B574-F20FCE5804E6}" srcOrd="0" destOrd="0" presId="urn:microsoft.com/office/officeart/2005/8/layout/chevron1"/>
    <dgm:cxn modelId="{DCE6CD0F-418B-46FB-AEB0-006025DC487E}" srcId="{796EC7D8-EFAD-4A12-B5D3-D83FF17F22CE}" destId="{A184399B-B317-49C2-AF38-9A03CBBBD215}" srcOrd="2" destOrd="0" parTransId="{322990AA-A157-4D0D-905C-AA3B9F3F00DE}" sibTransId="{B8A63348-0725-43B4-B571-DD14002F6312}"/>
    <dgm:cxn modelId="{BD4E483E-25EA-4FEB-A4CA-5783615189B5}" type="presOf" srcId="{A184399B-B317-49C2-AF38-9A03CBBBD215}" destId="{E6E64AD7-6524-41E0-9044-F92E5AAFE682}" srcOrd="0" destOrd="0" presId="urn:microsoft.com/office/officeart/2005/8/layout/chevron1"/>
    <dgm:cxn modelId="{4BFABF63-5220-405C-8D91-BA75CBAEB6A0}" srcId="{796EC7D8-EFAD-4A12-B5D3-D83FF17F22CE}" destId="{77AA3A1B-1FA9-4143-B839-DD71709E70D5}" srcOrd="1" destOrd="0" parTransId="{92123C42-DE48-45FC-BCCB-5D52161F3ABA}" sibTransId="{AE54749B-CCCB-4840-8053-C9E61AC825C9}"/>
    <dgm:cxn modelId="{72C0C070-E69B-4F21-9BBF-E202B1D67F49}" type="presOf" srcId="{77AA3A1B-1FA9-4143-B839-DD71709E70D5}" destId="{C7488717-58D3-4370-97D0-3580CDF265C1}" srcOrd="0" destOrd="0" presId="urn:microsoft.com/office/officeart/2005/8/layout/chevron1"/>
    <dgm:cxn modelId="{B6EA5579-6E50-423E-BF9F-142F77F247E1}" srcId="{796EC7D8-EFAD-4A12-B5D3-D83FF17F22CE}" destId="{79653226-E542-4FFF-AB01-D1CCEE729D27}" srcOrd="4" destOrd="0" parTransId="{36823A94-39E4-48AC-A2E9-C9EADDCB0B13}" sibTransId="{C967166F-761A-4DF0-B45E-BC4AE05C3FCB}"/>
    <dgm:cxn modelId="{90F80187-029B-4ADC-BBBE-CB2CF2FBB77B}" type="presOf" srcId="{81A84BDF-E10B-4812-AA5D-ED88073D0783}" destId="{CF6AA664-6E77-428F-B019-B3D221F6FEDB}" srcOrd="0" destOrd="0" presId="urn:microsoft.com/office/officeart/2005/8/layout/chevron1"/>
    <dgm:cxn modelId="{082F4396-0939-4343-8AC2-550DD8A526F7}" srcId="{796EC7D8-EFAD-4A12-B5D3-D83FF17F22CE}" destId="{DDC3B4A8-95AF-4C2E-A334-934C967AEE2E}" srcOrd="0" destOrd="0" parTransId="{F96ABBB0-D368-4491-9BC2-FAE08066C941}" sibTransId="{0EDADB2D-3260-488F-B011-E8565AE79732}"/>
    <dgm:cxn modelId="{D3BF7BC3-60F1-4248-90B9-00B227DB157D}" type="presOf" srcId="{79653226-E542-4FFF-AB01-D1CCEE729D27}" destId="{274BBD63-F489-4876-A0EC-7A254FC98D0B}" srcOrd="0" destOrd="0" presId="urn:microsoft.com/office/officeart/2005/8/layout/chevron1"/>
    <dgm:cxn modelId="{ACF1C2F0-4189-4BA2-9FA0-BB4F1BBDF430}" type="presOf" srcId="{DDC3B4A8-95AF-4C2E-A334-934C967AEE2E}" destId="{55CB3CE6-6F56-4981-9CE7-481A1608A5D6}" srcOrd="0" destOrd="0" presId="urn:microsoft.com/office/officeart/2005/8/layout/chevron1"/>
    <dgm:cxn modelId="{C1771BF6-BE73-45D5-BFA0-3B78C7A98F7E}" type="presParOf" srcId="{B24962E4-1D47-44C1-B574-F20FCE5804E6}" destId="{55CB3CE6-6F56-4981-9CE7-481A1608A5D6}" srcOrd="0" destOrd="0" presId="urn:microsoft.com/office/officeart/2005/8/layout/chevron1"/>
    <dgm:cxn modelId="{74BA520F-F23C-4DA5-BE94-571EA435F605}" type="presParOf" srcId="{B24962E4-1D47-44C1-B574-F20FCE5804E6}" destId="{844739B4-ECA1-4149-A698-FC6B5C2D44F4}" srcOrd="1" destOrd="0" presId="urn:microsoft.com/office/officeart/2005/8/layout/chevron1"/>
    <dgm:cxn modelId="{A72DCC37-A37F-4679-86AB-8705BF5CB779}" type="presParOf" srcId="{B24962E4-1D47-44C1-B574-F20FCE5804E6}" destId="{C7488717-58D3-4370-97D0-3580CDF265C1}" srcOrd="2" destOrd="0" presId="urn:microsoft.com/office/officeart/2005/8/layout/chevron1"/>
    <dgm:cxn modelId="{F4CC88A6-273C-4368-AE51-119D6CAB37CF}" type="presParOf" srcId="{B24962E4-1D47-44C1-B574-F20FCE5804E6}" destId="{FB8D9B13-80E4-4384-A418-F7C10DD4BBE0}" srcOrd="3" destOrd="0" presId="urn:microsoft.com/office/officeart/2005/8/layout/chevron1"/>
    <dgm:cxn modelId="{A57BF48E-33CC-44D9-9F04-B0CC36358DFB}" type="presParOf" srcId="{B24962E4-1D47-44C1-B574-F20FCE5804E6}" destId="{E6E64AD7-6524-41E0-9044-F92E5AAFE682}" srcOrd="4" destOrd="0" presId="urn:microsoft.com/office/officeart/2005/8/layout/chevron1"/>
    <dgm:cxn modelId="{2C6F27C0-01E0-4C56-9A70-9361FFB56B71}" type="presParOf" srcId="{B24962E4-1D47-44C1-B574-F20FCE5804E6}" destId="{D91B6AEF-D9EE-4EAC-AB2B-3ADA7CAFF651}" srcOrd="5" destOrd="0" presId="urn:microsoft.com/office/officeart/2005/8/layout/chevron1"/>
    <dgm:cxn modelId="{7D7E66DF-8B8C-42EA-9322-796DBB089922}" type="presParOf" srcId="{B24962E4-1D47-44C1-B574-F20FCE5804E6}" destId="{CF6AA664-6E77-428F-B019-B3D221F6FEDB}" srcOrd="6" destOrd="0" presId="urn:microsoft.com/office/officeart/2005/8/layout/chevron1"/>
    <dgm:cxn modelId="{16033E6F-8D20-45F7-9127-C39C722681B9}" type="presParOf" srcId="{B24962E4-1D47-44C1-B574-F20FCE5804E6}" destId="{63760EC0-1171-418A-A58C-6B47DBD356DB}" srcOrd="7" destOrd="0" presId="urn:microsoft.com/office/officeart/2005/8/layout/chevron1"/>
    <dgm:cxn modelId="{535ADA1B-9194-4B3A-B0C9-314C118971EA}" type="presParOf" srcId="{B24962E4-1D47-44C1-B574-F20FCE5804E6}" destId="{274BBD63-F489-4876-A0EC-7A254FC98D0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7C8D3-EDD8-4B42-B9B3-B798F59F51DB}">
      <dsp:nvSpPr>
        <dsp:cNvPr id="0" name=""/>
        <dsp:cNvSpPr/>
      </dsp:nvSpPr>
      <dsp:spPr>
        <a:xfrm>
          <a:off x="1493407" y="0"/>
          <a:ext cx="1514767" cy="154195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766BA-5EA7-40D1-9A03-F3ABA4D04CB7}">
      <dsp:nvSpPr>
        <dsp:cNvPr id="0" name=""/>
        <dsp:cNvSpPr/>
      </dsp:nvSpPr>
      <dsp:spPr>
        <a:xfrm>
          <a:off x="1820275" y="558447"/>
          <a:ext cx="860452" cy="43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Question</a:t>
          </a:r>
          <a:endParaRPr lang="en-US" sz="1200" kern="1200" dirty="0"/>
        </a:p>
      </dsp:txBody>
      <dsp:txXfrm>
        <a:off x="1820275" y="558447"/>
        <a:ext cx="860452" cy="430034"/>
      </dsp:txXfrm>
    </dsp:sp>
    <dsp:sp modelId="{686150F3-357B-4C6E-B14A-29081F731F16}">
      <dsp:nvSpPr>
        <dsp:cNvPr id="0" name=""/>
        <dsp:cNvSpPr/>
      </dsp:nvSpPr>
      <dsp:spPr>
        <a:xfrm>
          <a:off x="1051507" y="885949"/>
          <a:ext cx="1541873" cy="154195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196BD-9F0A-4AEF-B4B8-CCB2D6E8BB1B}">
      <dsp:nvSpPr>
        <dsp:cNvPr id="0" name=""/>
        <dsp:cNvSpPr/>
      </dsp:nvSpPr>
      <dsp:spPr>
        <a:xfrm>
          <a:off x="1390193" y="1446387"/>
          <a:ext cx="860452" cy="43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Retriever</a:t>
          </a:r>
          <a:endParaRPr lang="en-US" sz="1100" kern="1200" dirty="0"/>
        </a:p>
      </dsp:txBody>
      <dsp:txXfrm>
        <a:off x="1390193" y="1446387"/>
        <a:ext cx="860452" cy="430034"/>
      </dsp:txXfrm>
    </dsp:sp>
    <dsp:sp modelId="{B6868A36-410B-4475-BE6D-E8228CF91E03}">
      <dsp:nvSpPr>
        <dsp:cNvPr id="0" name=""/>
        <dsp:cNvSpPr/>
      </dsp:nvSpPr>
      <dsp:spPr>
        <a:xfrm>
          <a:off x="1479854" y="1775881"/>
          <a:ext cx="1541873" cy="154195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6AE1E-6630-44F3-958F-4347CEAEC71A}">
      <dsp:nvSpPr>
        <dsp:cNvPr id="0" name=""/>
        <dsp:cNvSpPr/>
      </dsp:nvSpPr>
      <dsp:spPr>
        <a:xfrm>
          <a:off x="1820275" y="2333830"/>
          <a:ext cx="860452" cy="43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Relevant Documents</a:t>
          </a:r>
          <a:endParaRPr lang="en-US" sz="1100" kern="1200" dirty="0"/>
        </a:p>
      </dsp:txBody>
      <dsp:txXfrm>
        <a:off x="1820275" y="2333830"/>
        <a:ext cx="860452" cy="430034"/>
      </dsp:txXfrm>
    </dsp:sp>
    <dsp:sp modelId="{3C01F681-1C3F-4C24-B4DF-66EDE6178EC1}">
      <dsp:nvSpPr>
        <dsp:cNvPr id="0" name=""/>
        <dsp:cNvSpPr/>
      </dsp:nvSpPr>
      <dsp:spPr>
        <a:xfrm>
          <a:off x="1051507" y="2663324"/>
          <a:ext cx="1541873" cy="154195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B9051-5B4C-4F47-81A2-443E95D17D26}">
      <dsp:nvSpPr>
        <dsp:cNvPr id="0" name=""/>
        <dsp:cNvSpPr/>
      </dsp:nvSpPr>
      <dsp:spPr>
        <a:xfrm>
          <a:off x="1390193" y="3221771"/>
          <a:ext cx="860452" cy="43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Generator</a:t>
          </a:r>
          <a:endParaRPr lang="en-US" sz="1100" kern="1200" dirty="0"/>
        </a:p>
      </dsp:txBody>
      <dsp:txXfrm>
        <a:off x="1390193" y="3221771"/>
        <a:ext cx="860452" cy="430034"/>
      </dsp:txXfrm>
    </dsp:sp>
    <dsp:sp modelId="{1A0F737C-0FDE-4DC5-B130-D07DA6ED5671}">
      <dsp:nvSpPr>
        <dsp:cNvPr id="0" name=""/>
        <dsp:cNvSpPr/>
      </dsp:nvSpPr>
      <dsp:spPr>
        <a:xfrm>
          <a:off x="1589471" y="3651805"/>
          <a:ext cx="1324663" cy="132544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D1482-2E1E-4743-B7F2-7436E9B5E50B}">
      <dsp:nvSpPr>
        <dsp:cNvPr id="0" name=""/>
        <dsp:cNvSpPr/>
      </dsp:nvSpPr>
      <dsp:spPr>
        <a:xfrm>
          <a:off x="1820275" y="4109712"/>
          <a:ext cx="860452" cy="43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Answer</a:t>
          </a:r>
          <a:endParaRPr lang="en-US" sz="1100" kern="1200" dirty="0"/>
        </a:p>
      </dsp:txBody>
      <dsp:txXfrm>
        <a:off x="1820275" y="4109712"/>
        <a:ext cx="860452" cy="43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B3CE6-6F56-4981-9CE7-481A1608A5D6}">
      <dsp:nvSpPr>
        <dsp:cNvPr id="0" name=""/>
        <dsp:cNvSpPr/>
      </dsp:nvSpPr>
      <dsp:spPr>
        <a:xfrm>
          <a:off x="1889" y="1073439"/>
          <a:ext cx="1681301" cy="672520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Python</a:t>
          </a:r>
        </a:p>
      </dsp:txBody>
      <dsp:txXfrm>
        <a:off x="338149" y="1073439"/>
        <a:ext cx="1008781" cy="672520"/>
      </dsp:txXfrm>
    </dsp:sp>
    <dsp:sp modelId="{C7488717-58D3-4370-97D0-3580CDF265C1}">
      <dsp:nvSpPr>
        <dsp:cNvPr id="0" name=""/>
        <dsp:cNvSpPr/>
      </dsp:nvSpPr>
      <dsp:spPr>
        <a:xfrm>
          <a:off x="1515060" y="1073439"/>
          <a:ext cx="1681301" cy="672520"/>
        </a:xfrm>
        <a:prstGeom prst="chevron">
          <a:avLst/>
        </a:prstGeom>
        <a:solidFill>
          <a:schemeClr val="accent1">
            <a:shade val="80000"/>
            <a:hueOff val="71551"/>
            <a:satOff val="-6609"/>
            <a:lumOff val="95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LangChain</a:t>
          </a:r>
          <a:endParaRPr lang="en-US" sz="1700" kern="1200" dirty="0"/>
        </a:p>
      </dsp:txBody>
      <dsp:txXfrm>
        <a:off x="1851320" y="1073439"/>
        <a:ext cx="1008781" cy="672520"/>
      </dsp:txXfrm>
    </dsp:sp>
    <dsp:sp modelId="{E6E64AD7-6524-41E0-9044-F92E5AAFE682}">
      <dsp:nvSpPr>
        <dsp:cNvPr id="0" name=""/>
        <dsp:cNvSpPr/>
      </dsp:nvSpPr>
      <dsp:spPr>
        <a:xfrm>
          <a:off x="3028231" y="1073439"/>
          <a:ext cx="1681301" cy="672520"/>
        </a:xfrm>
        <a:prstGeom prst="chevron">
          <a:avLst/>
        </a:prstGeom>
        <a:solidFill>
          <a:schemeClr val="accent1">
            <a:shade val="80000"/>
            <a:hueOff val="143103"/>
            <a:satOff val="-13217"/>
            <a:lumOff val="191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FAISS</a:t>
          </a:r>
        </a:p>
      </dsp:txBody>
      <dsp:txXfrm>
        <a:off x="3364491" y="1073439"/>
        <a:ext cx="1008781" cy="672520"/>
      </dsp:txXfrm>
    </dsp:sp>
    <dsp:sp modelId="{CF6AA664-6E77-428F-B019-B3D221F6FEDB}">
      <dsp:nvSpPr>
        <dsp:cNvPr id="0" name=""/>
        <dsp:cNvSpPr/>
      </dsp:nvSpPr>
      <dsp:spPr>
        <a:xfrm>
          <a:off x="4541402" y="1073439"/>
          <a:ext cx="1681301" cy="672520"/>
        </a:xfrm>
        <a:prstGeom prst="chevron">
          <a:avLst/>
        </a:prstGeom>
        <a:solidFill>
          <a:schemeClr val="accent1">
            <a:shade val="80000"/>
            <a:hueOff val="214654"/>
            <a:satOff val="-19826"/>
            <a:lumOff val="2867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Gradio</a:t>
          </a:r>
          <a:endParaRPr lang="en-US" sz="1700" kern="1200" dirty="0"/>
        </a:p>
      </dsp:txBody>
      <dsp:txXfrm>
        <a:off x="4877662" y="1073439"/>
        <a:ext cx="1008781" cy="672520"/>
      </dsp:txXfrm>
    </dsp:sp>
    <dsp:sp modelId="{274BBD63-F489-4876-A0EC-7A254FC98D0B}">
      <dsp:nvSpPr>
        <dsp:cNvPr id="0" name=""/>
        <dsp:cNvSpPr/>
      </dsp:nvSpPr>
      <dsp:spPr>
        <a:xfrm>
          <a:off x="6054573" y="1073439"/>
          <a:ext cx="1681301" cy="672520"/>
        </a:xfrm>
        <a:prstGeom prst="chevron">
          <a:avLst/>
        </a:prstGeom>
        <a:solidFill>
          <a:schemeClr val="accent1">
            <a:shade val="80000"/>
            <a:hueOff val="286206"/>
            <a:satOff val="-26435"/>
            <a:lumOff val="382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700" kern="1200" dirty="0"/>
            <a:t>5</a:t>
          </a:r>
          <a:endParaRPr lang="en-US" sz="1700" kern="1200" dirty="0"/>
        </a:p>
      </dsp:txBody>
      <dsp:txXfrm>
        <a:off x="6390833" y="1073439"/>
        <a:ext cx="1008781" cy="672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A6347D-B675-12F9-1DE9-8F4ABE5748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B09F4-3B00-33A3-CCAC-EB4D14639A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90F05-ECDD-4293-A692-C1CB60841CB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E82E4-7E62-24AE-B68C-FDDA29BB5A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79C9E-7267-240A-28E7-F6474BB783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D06B3-8939-4EE7-BF04-36A4B2A2D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210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27e841ea4d0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27e841ea4d0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362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8022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570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3234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3277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404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104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3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8541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1664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543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145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522225" y="1994150"/>
            <a:ext cx="398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522225" y="1350750"/>
            <a:ext cx="1069500" cy="6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 i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"/>
          </p:nvPr>
        </p:nvSpPr>
        <p:spPr>
          <a:xfrm>
            <a:off x="1522225" y="2835950"/>
            <a:ext cx="39801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556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89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5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CCBD49-F360-8E8D-0256-17E2E09B454B}"/>
              </a:ext>
            </a:extLst>
          </p:cNvPr>
          <p:cNvSpPr/>
          <p:nvPr/>
        </p:nvSpPr>
        <p:spPr>
          <a:xfrm>
            <a:off x="592282" y="1427871"/>
            <a:ext cx="7959436" cy="24751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sz="2400" b="1" dirty="0"/>
              <a:t>Retrieval-Augmented Generation for</a:t>
            </a:r>
          </a:p>
          <a:p>
            <a:pPr algn="ctr"/>
            <a:r>
              <a:rPr lang="en-US" sz="2400" b="1" dirty="0"/>
              <a:t>Knowledge-Intensive NLP Tasks</a:t>
            </a:r>
            <a:br>
              <a:rPr lang="en-US" dirty="0"/>
            </a:br>
            <a:r>
              <a:rPr lang="en-US" dirty="0"/>
              <a:t> </a:t>
            </a:r>
            <a:endParaRPr lang="fa-I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Professor: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Nasrin Zaghari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Presenters: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Fatemeh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Bajelan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16158D-0876-D4F4-021F-F3502B736A23}"/>
              </a:ext>
            </a:extLst>
          </p:cNvPr>
          <p:cNvSpPr/>
          <p:nvPr/>
        </p:nvSpPr>
        <p:spPr>
          <a:xfrm>
            <a:off x="0" y="4493994"/>
            <a:ext cx="9144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CA716-CE1E-7DF8-E630-E0BAF44F493A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D1D85-9DBF-CA29-2459-ED4128A66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672" y="159326"/>
            <a:ext cx="1745674" cy="1817771"/>
          </a:xfrm>
          <a:prstGeom prst="ellipse">
            <a:avLst/>
          </a:prstGeom>
          <a:ln w="38100" cap="rnd">
            <a:solidFill>
              <a:srgbClr val="2F435A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488DB-DE9E-4209-8A2D-408F4DF3A7A3}"/>
              </a:ext>
            </a:extLst>
          </p:cNvPr>
          <p:cNvSpPr/>
          <p:nvPr/>
        </p:nvSpPr>
        <p:spPr>
          <a:xfrm>
            <a:off x="4523509" y="0"/>
            <a:ext cx="4620491" cy="4752109"/>
          </a:xfrm>
          <a:prstGeom prst="rect">
            <a:avLst/>
          </a:prstGeom>
          <a:solidFill>
            <a:srgbClr val="2F435A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D9F63D-B809-EC5F-AD01-C62696D6823E}"/>
              </a:ext>
            </a:extLst>
          </p:cNvPr>
          <p:cNvSpPr/>
          <p:nvPr/>
        </p:nvSpPr>
        <p:spPr>
          <a:xfrm>
            <a:off x="1036333" y="1549390"/>
            <a:ext cx="2633472" cy="612560"/>
          </a:xfrm>
          <a:prstGeom prst="roundRect">
            <a:avLst/>
          </a:prstGeom>
          <a:solidFill>
            <a:srgbClr val="2F435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cs typeface="B Nazanin" panose="00000400000000000000" pitchFamily="2" charset="-78"/>
              </a:rPr>
              <a:t>RAG</a:t>
            </a:r>
            <a:r>
              <a:rPr lang="fa-IR" sz="2000" b="1" dirty="0">
                <a:cs typeface="B Nazanin" panose="00000400000000000000" pitchFamily="2" charset="-78"/>
              </a:rPr>
              <a:t>معرفی و معماری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BB5230-F5A5-E3FD-FC4B-B178C581B5D9}"/>
              </a:ext>
            </a:extLst>
          </p:cNvPr>
          <p:cNvSpPr/>
          <p:nvPr/>
        </p:nvSpPr>
        <p:spPr>
          <a:xfrm>
            <a:off x="3520652" y="1393604"/>
            <a:ext cx="292963" cy="305723"/>
          </a:xfrm>
          <a:prstGeom prst="ellipse">
            <a:avLst/>
          </a:prstGeom>
          <a:solidFill>
            <a:srgbClr val="2F435A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1B0C49-A67C-BFCB-5775-B0F58C78A4A1}"/>
              </a:ext>
            </a:extLst>
          </p:cNvPr>
          <p:cNvSpPr/>
          <p:nvPr/>
        </p:nvSpPr>
        <p:spPr>
          <a:xfrm>
            <a:off x="1036333" y="2902311"/>
            <a:ext cx="2633472" cy="612560"/>
          </a:xfrm>
          <a:prstGeom prst="roundRect">
            <a:avLst/>
          </a:prstGeom>
          <a:solidFill>
            <a:srgbClr val="2F435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>
                <a:cs typeface="B Nazanin" panose="00000400000000000000" pitchFamily="2" charset="-78"/>
              </a:rPr>
              <a:t>نتیجه‌گیری</a:t>
            </a:r>
            <a:endParaRPr lang="en-US" sz="2000" b="1" dirty="0">
              <a:cs typeface="B Nazanin" panose="00000400000000000000" pitchFamily="2" charset="-7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5D4F89-29C2-EAEF-C7FC-C6B75E1EF5E5}"/>
              </a:ext>
            </a:extLst>
          </p:cNvPr>
          <p:cNvSpPr/>
          <p:nvPr/>
        </p:nvSpPr>
        <p:spPr>
          <a:xfrm>
            <a:off x="3520651" y="2784485"/>
            <a:ext cx="292963" cy="305723"/>
          </a:xfrm>
          <a:prstGeom prst="ellipse">
            <a:avLst/>
          </a:prstGeom>
          <a:solidFill>
            <a:srgbClr val="2F435A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D7A9A1-3C30-995A-1ACB-AFCF3A878EA4}"/>
              </a:ext>
            </a:extLst>
          </p:cNvPr>
          <p:cNvSpPr/>
          <p:nvPr/>
        </p:nvSpPr>
        <p:spPr>
          <a:xfrm>
            <a:off x="5563305" y="1558256"/>
            <a:ext cx="2630009" cy="6125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>
                <a:solidFill>
                  <a:srgbClr val="2F435A"/>
                </a:solidFill>
                <a:cs typeface="B Nazanin" panose="00000400000000000000" pitchFamily="2" charset="-78"/>
              </a:rPr>
              <a:t>مقدمه و بیان مسئله</a:t>
            </a:r>
            <a:endParaRPr lang="en-US" sz="2000" b="1" dirty="0">
              <a:solidFill>
                <a:srgbClr val="2F435A"/>
              </a:solidFill>
              <a:cs typeface="B Nazanin" panose="00000400000000000000" pitchFamily="2" charset="-7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E9A629-5DF4-5143-7328-825AE5BC4951}"/>
              </a:ext>
            </a:extLst>
          </p:cNvPr>
          <p:cNvSpPr/>
          <p:nvPr/>
        </p:nvSpPr>
        <p:spPr>
          <a:xfrm>
            <a:off x="8044161" y="1363607"/>
            <a:ext cx="292963" cy="305723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sz="1350" b="1" dirty="0"/>
              <a:t>1</a:t>
            </a:r>
            <a:endParaRPr lang="en-US" sz="135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3D0208-5DF6-3DA8-38F8-EC4EE540F703}"/>
              </a:ext>
            </a:extLst>
          </p:cNvPr>
          <p:cNvSpPr/>
          <p:nvPr/>
        </p:nvSpPr>
        <p:spPr>
          <a:xfrm>
            <a:off x="5563305" y="2937347"/>
            <a:ext cx="2630009" cy="6125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solidFill>
                  <a:srgbClr val="2F435A"/>
                </a:solidFill>
                <a:cs typeface="B Nazanin" panose="00000400000000000000" pitchFamily="2" charset="-78"/>
              </a:rPr>
              <a:t>پروژه عملی چت‌بات</a:t>
            </a:r>
            <a:endParaRPr lang="en-US" b="1" dirty="0">
              <a:solidFill>
                <a:srgbClr val="2F435A"/>
              </a:solidFill>
              <a:cs typeface="B Nazanin" panose="00000400000000000000" pitchFamily="2" charset="-7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BABFFA-5625-6E60-E03A-42ECE13C7E9E}"/>
              </a:ext>
            </a:extLst>
          </p:cNvPr>
          <p:cNvSpPr/>
          <p:nvPr/>
        </p:nvSpPr>
        <p:spPr>
          <a:xfrm>
            <a:off x="8034914" y="2759246"/>
            <a:ext cx="292963" cy="305723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3E1D2-04BE-B36C-DEFD-5093C73B2789}"/>
              </a:ext>
            </a:extLst>
          </p:cNvPr>
          <p:cNvSpPr txBox="1"/>
          <p:nvPr/>
        </p:nvSpPr>
        <p:spPr>
          <a:xfrm>
            <a:off x="3396683" y="173418"/>
            <a:ext cx="2253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400" b="1">
                <a:highlight>
                  <a:srgbClr val="C0C0C0"/>
                </a:highlight>
              </a:rPr>
              <a:t>فهرست مطالب</a:t>
            </a:r>
            <a:endParaRPr lang="en-US" sz="2400" b="1" dirty="0">
              <a:highlight>
                <a:srgbClr val="C0C0C0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2E6BC7-2CDE-E630-0B17-181AA014A620}"/>
              </a:ext>
            </a:extLst>
          </p:cNvPr>
          <p:cNvSpPr/>
          <p:nvPr/>
        </p:nvSpPr>
        <p:spPr>
          <a:xfrm>
            <a:off x="0" y="4722839"/>
            <a:ext cx="4523509" cy="435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E85519-C0EB-6BC8-3009-731C6F0EA6C0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2/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4216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37ED-A015-4CA1-B271-95E6C200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636" y="1565563"/>
            <a:ext cx="6426575" cy="2521527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fa-IR" sz="1600" dirty="0"/>
              <a:t>امروزه مدل‌های زبانی توانایی پاسخگویی به سوالات مختلف را دارند. اما این مدل‌ها همیشه به جدیدترین اطلاعات دسترسی ندارند و گاهی پاسخ‌های اشتباه تولید می‌کنند.</a:t>
            </a:r>
            <a:br>
              <a:rPr lang="fa-IR" sz="1600" dirty="0"/>
            </a:br>
            <a:r>
              <a:rPr lang="fa-IR" sz="1600" dirty="0"/>
              <a:t>این فناوری یکی از مهم‌ترین روش‌های جدید در هوش مصنوعی است که با ترکیب جستجوی اطلاعات و مدل‌های زبانی، پاسخ‌های دقیق‌تر و قابل اعتمادتر تولید می‌کند.</a:t>
            </a:r>
            <a:br>
              <a:rPr lang="fa-IR" sz="1100" dirty="0"/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159F82-9C17-4666-8B32-99F81B202FB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65642" y="748710"/>
            <a:ext cx="6612716" cy="643500"/>
          </a:xfrm>
        </p:spPr>
        <p:txBody>
          <a:bodyPr/>
          <a:lstStyle/>
          <a:p>
            <a:pPr algn="ctr"/>
            <a:r>
              <a:rPr lang="en-US" sz="2400" b="1" i="0" dirty="0">
                <a:solidFill>
                  <a:srgbClr val="2F435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Retrieval-Augmented Generation (RAG)</a:t>
            </a:r>
            <a:b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FCC17-0019-5255-4FA4-AAE2E6810314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3/</a:t>
            </a:r>
            <a:r>
              <a:rPr lang="fa-IR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solidFill>
                <a:schemeClr val="bg1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3325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1FC5E6-A717-2B57-649B-5AAB2CAC20B9}"/>
              </a:ext>
            </a:extLst>
          </p:cNvPr>
          <p:cNvSpPr/>
          <p:nvPr/>
        </p:nvSpPr>
        <p:spPr>
          <a:xfrm>
            <a:off x="6712527" y="186317"/>
            <a:ext cx="1717964" cy="7319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a-IR" sz="2400" b="1" dirty="0">
                <a:solidFill>
                  <a:schemeClr val="bg1"/>
                </a:solidFill>
              </a:rPr>
              <a:t>مسئله چیست؟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310245-6861-A11E-DE61-AC2A92A1CEE0}"/>
              </a:ext>
            </a:extLst>
          </p:cNvPr>
          <p:cNvSpPr/>
          <p:nvPr/>
        </p:nvSpPr>
        <p:spPr>
          <a:xfrm>
            <a:off x="5762451" y="2296567"/>
            <a:ext cx="2065367" cy="531668"/>
          </a:xfrm>
          <a:prstGeom prst="roundRect">
            <a:avLst/>
          </a:prstGeom>
          <a:solidFill>
            <a:srgbClr val="2F435A"/>
          </a:solidFill>
          <a:ln>
            <a:solidFill>
              <a:srgbClr val="2F4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dirty="0"/>
              <a:t>مشکلات اصلی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51886E-ACED-50F2-A9CC-363BC0958DDA}"/>
              </a:ext>
            </a:extLst>
          </p:cNvPr>
          <p:cNvSpPr/>
          <p:nvPr/>
        </p:nvSpPr>
        <p:spPr>
          <a:xfrm>
            <a:off x="877861" y="1500625"/>
            <a:ext cx="3539837" cy="362318"/>
          </a:xfrm>
          <a:prstGeom prst="roundRect">
            <a:avLst/>
          </a:prstGeom>
          <a:solidFill>
            <a:schemeClr val="bg1"/>
          </a:solidFill>
          <a:ln>
            <a:solidFill>
              <a:srgbClr val="2F4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600" dirty="0">
                <a:solidFill>
                  <a:schemeClr val="tx1"/>
                </a:solidFill>
              </a:rPr>
              <a:t>اطلاعات قدیمی می‌شوند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B9BBD0-500A-F2AC-C19B-18EFE8BFAC5E}"/>
              </a:ext>
            </a:extLst>
          </p:cNvPr>
          <p:cNvSpPr/>
          <p:nvPr/>
        </p:nvSpPr>
        <p:spPr>
          <a:xfrm>
            <a:off x="877862" y="2131565"/>
            <a:ext cx="3539837" cy="362318"/>
          </a:xfrm>
          <a:prstGeom prst="roundRect">
            <a:avLst/>
          </a:prstGeom>
          <a:solidFill>
            <a:schemeClr val="bg1"/>
          </a:solidFill>
          <a:ln>
            <a:solidFill>
              <a:srgbClr val="2F4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مدل ممکن است اطلاعات نادرست تولید کند.</a:t>
            </a:r>
            <a:endParaRPr lang="en-US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0D5207-E7FA-8C1B-C054-3F6941C71C54}"/>
              </a:ext>
            </a:extLst>
          </p:cNvPr>
          <p:cNvSpPr/>
          <p:nvPr/>
        </p:nvSpPr>
        <p:spPr>
          <a:xfrm>
            <a:off x="877861" y="3581317"/>
            <a:ext cx="3539837" cy="362318"/>
          </a:xfrm>
          <a:prstGeom prst="roundRect">
            <a:avLst/>
          </a:prstGeom>
          <a:solidFill>
            <a:schemeClr val="bg1"/>
          </a:solidFill>
          <a:ln>
            <a:solidFill>
              <a:srgbClr val="2F4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اضافه کردن دانش جدید نیاز به آموزش مجدد دارد.</a:t>
            </a:r>
            <a:endParaRPr lang="en-US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AB7B44-E50B-B94C-DEBF-9E81B0C0109D}"/>
              </a:ext>
            </a:extLst>
          </p:cNvPr>
          <p:cNvSpPr/>
          <p:nvPr/>
        </p:nvSpPr>
        <p:spPr>
          <a:xfrm>
            <a:off x="877861" y="2864680"/>
            <a:ext cx="3539837" cy="362318"/>
          </a:xfrm>
          <a:prstGeom prst="roundRect">
            <a:avLst/>
          </a:prstGeom>
          <a:solidFill>
            <a:schemeClr val="bg1"/>
          </a:solidFill>
          <a:ln>
            <a:solidFill>
              <a:srgbClr val="2F4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منبع پاسخ مشخص نیست.</a:t>
            </a:r>
            <a:endParaRPr lang="en-US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5E35F6-761A-27B3-B169-A685FA312DB6}"/>
              </a:ext>
            </a:extLst>
          </p:cNvPr>
          <p:cNvCxnSpPr>
            <a:cxnSpLocks/>
          </p:cNvCxnSpPr>
          <p:nvPr/>
        </p:nvCxnSpPr>
        <p:spPr>
          <a:xfrm flipH="1">
            <a:off x="4994214" y="1689819"/>
            <a:ext cx="346" cy="2050654"/>
          </a:xfrm>
          <a:prstGeom prst="line">
            <a:avLst/>
          </a:prstGeom>
          <a:ln>
            <a:solidFill>
              <a:srgbClr val="2F43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E9D27E-87D5-D5A1-A39A-675F9101682D}"/>
              </a:ext>
            </a:extLst>
          </p:cNvPr>
          <p:cNvCxnSpPr>
            <a:cxnSpLocks/>
          </p:cNvCxnSpPr>
          <p:nvPr/>
        </p:nvCxnSpPr>
        <p:spPr>
          <a:xfrm flipH="1">
            <a:off x="4994214" y="2587336"/>
            <a:ext cx="5399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mond 18">
            <a:extLst>
              <a:ext uri="{FF2B5EF4-FFF2-40B4-BE49-F238E27FC236}">
                <a16:creationId xmlns:a16="http://schemas.microsoft.com/office/drawing/2014/main" id="{B9438835-0954-3BA5-E483-25206DA9CFFA}"/>
              </a:ext>
            </a:extLst>
          </p:cNvPr>
          <p:cNvSpPr/>
          <p:nvPr/>
        </p:nvSpPr>
        <p:spPr>
          <a:xfrm>
            <a:off x="5511333" y="2562401"/>
            <a:ext cx="45719" cy="457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9D3F08-52B0-B997-27F8-9BEFC9FC2C6B}"/>
              </a:ext>
            </a:extLst>
          </p:cNvPr>
          <p:cNvCxnSpPr>
            <a:cxnSpLocks/>
          </p:cNvCxnSpPr>
          <p:nvPr/>
        </p:nvCxnSpPr>
        <p:spPr>
          <a:xfrm flipH="1">
            <a:off x="4572000" y="1689819"/>
            <a:ext cx="421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mond 21">
            <a:extLst>
              <a:ext uri="{FF2B5EF4-FFF2-40B4-BE49-F238E27FC236}">
                <a16:creationId xmlns:a16="http://schemas.microsoft.com/office/drawing/2014/main" id="{C2804BB3-57A0-B109-2EE2-42BF94B7B016}"/>
              </a:ext>
            </a:extLst>
          </p:cNvPr>
          <p:cNvSpPr/>
          <p:nvPr/>
        </p:nvSpPr>
        <p:spPr>
          <a:xfrm>
            <a:off x="4548623" y="1666959"/>
            <a:ext cx="45719" cy="457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042CA06-09F8-7D0E-A3D6-B38205D593B8}"/>
              </a:ext>
            </a:extLst>
          </p:cNvPr>
          <p:cNvCxnSpPr>
            <a:cxnSpLocks/>
          </p:cNvCxnSpPr>
          <p:nvPr/>
        </p:nvCxnSpPr>
        <p:spPr>
          <a:xfrm flipH="1">
            <a:off x="4571482" y="2296567"/>
            <a:ext cx="421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Diamond 37">
            <a:extLst>
              <a:ext uri="{FF2B5EF4-FFF2-40B4-BE49-F238E27FC236}">
                <a16:creationId xmlns:a16="http://schemas.microsoft.com/office/drawing/2014/main" id="{6604FDD5-570B-DB7F-EB70-0E167F5FA379}"/>
              </a:ext>
            </a:extLst>
          </p:cNvPr>
          <p:cNvSpPr/>
          <p:nvPr/>
        </p:nvSpPr>
        <p:spPr>
          <a:xfrm>
            <a:off x="4547069" y="2275286"/>
            <a:ext cx="45719" cy="457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F8714BD-36F5-1B7F-07A7-3A4362A5EF09}"/>
              </a:ext>
            </a:extLst>
          </p:cNvPr>
          <p:cNvCxnSpPr>
            <a:cxnSpLocks/>
          </p:cNvCxnSpPr>
          <p:nvPr/>
        </p:nvCxnSpPr>
        <p:spPr>
          <a:xfrm flipH="1">
            <a:off x="4556771" y="3053317"/>
            <a:ext cx="421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iamond 39">
            <a:extLst>
              <a:ext uri="{FF2B5EF4-FFF2-40B4-BE49-F238E27FC236}">
                <a16:creationId xmlns:a16="http://schemas.microsoft.com/office/drawing/2014/main" id="{A875A0D2-6D41-B72D-0314-790CB151B67F}"/>
              </a:ext>
            </a:extLst>
          </p:cNvPr>
          <p:cNvSpPr/>
          <p:nvPr/>
        </p:nvSpPr>
        <p:spPr>
          <a:xfrm>
            <a:off x="4524208" y="3027492"/>
            <a:ext cx="45719" cy="457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BC453B-94DA-5FF6-2FD8-22548BCC3C65}"/>
              </a:ext>
            </a:extLst>
          </p:cNvPr>
          <p:cNvCxnSpPr>
            <a:cxnSpLocks/>
          </p:cNvCxnSpPr>
          <p:nvPr/>
        </p:nvCxnSpPr>
        <p:spPr>
          <a:xfrm flipH="1">
            <a:off x="4563866" y="3740473"/>
            <a:ext cx="4333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iamond 41">
            <a:extLst>
              <a:ext uri="{FF2B5EF4-FFF2-40B4-BE49-F238E27FC236}">
                <a16:creationId xmlns:a16="http://schemas.microsoft.com/office/drawing/2014/main" id="{6B86E94E-23FC-CF31-5ECA-6F51456378E6}"/>
              </a:ext>
            </a:extLst>
          </p:cNvPr>
          <p:cNvSpPr/>
          <p:nvPr/>
        </p:nvSpPr>
        <p:spPr>
          <a:xfrm>
            <a:off x="4524209" y="3717613"/>
            <a:ext cx="45719" cy="457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CF76AD-FC69-124D-7617-9C167F7A3E21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4/15</a:t>
            </a:r>
            <a:endParaRPr lang="en-US" dirty="0">
              <a:solidFill>
                <a:schemeClr val="bg1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69584594-8550-22AB-BB5B-CD4B58ABE2CA}"/>
              </a:ext>
            </a:extLst>
          </p:cNvPr>
          <p:cNvSpPr/>
          <p:nvPr/>
        </p:nvSpPr>
        <p:spPr>
          <a:xfrm>
            <a:off x="8229601" y="413671"/>
            <a:ext cx="1212272" cy="14975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17839FD5-4E62-CA3F-8A86-EF0CC62D0886}"/>
              </a:ext>
            </a:extLst>
          </p:cNvPr>
          <p:cNvSpPr/>
          <p:nvPr/>
        </p:nvSpPr>
        <p:spPr>
          <a:xfrm>
            <a:off x="8229601" y="563751"/>
            <a:ext cx="1212272" cy="14975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F40909A0-2AEC-8769-F44F-CFEBCB5F14C7}"/>
              </a:ext>
            </a:extLst>
          </p:cNvPr>
          <p:cNvSpPr/>
          <p:nvPr/>
        </p:nvSpPr>
        <p:spPr>
          <a:xfrm>
            <a:off x="8229601" y="488550"/>
            <a:ext cx="1212272" cy="14975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33BADF-2FF3-9ACF-C16E-C1166C13FC8E}"/>
              </a:ext>
            </a:extLst>
          </p:cNvPr>
          <p:cNvSpPr txBox="1"/>
          <p:nvPr/>
        </p:nvSpPr>
        <p:spPr>
          <a:xfrm>
            <a:off x="1052945" y="315421"/>
            <a:ext cx="5659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400" dirty="0"/>
              <a:t>مدل‌های زبانی اطلاعات را در پارامترهای خود ذخیره می‌کنند. این اطلاعات هنگام آموزش مدل یاد گرفته می‌شوند و بعد از پایان آموزش به‌روزرسانی آن‌ها دشوار است.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4011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42"/>
          <p:cNvSpPr txBox="1">
            <a:spLocks noGrp="1"/>
          </p:cNvSpPr>
          <p:nvPr>
            <p:ph type="title"/>
          </p:nvPr>
        </p:nvSpPr>
        <p:spPr>
          <a:xfrm>
            <a:off x="3422249" y="461094"/>
            <a:ext cx="2181917" cy="727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RAG</a:t>
            </a:r>
            <a:endParaRPr sz="36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6C5B87-9F1E-3440-D9FD-6AC08AF2A952}"/>
              </a:ext>
            </a:extLst>
          </p:cNvPr>
          <p:cNvSpPr/>
          <p:nvPr/>
        </p:nvSpPr>
        <p:spPr>
          <a:xfrm>
            <a:off x="1342834" y="2100839"/>
            <a:ext cx="6575918" cy="6614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Retrieval</a:t>
            </a:r>
            <a:endParaRPr lang="fa-I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fa-I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برای پیدا کردن اطلاعات مرتبط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9D92CF-06A1-CF65-A1DD-7DC40CCFDA02}"/>
              </a:ext>
            </a:extLst>
          </p:cNvPr>
          <p:cNvSpPr/>
          <p:nvPr/>
        </p:nvSpPr>
        <p:spPr>
          <a:xfrm>
            <a:off x="1342834" y="3276212"/>
            <a:ext cx="6575918" cy="6614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Generation</a:t>
            </a:r>
            <a:endParaRPr lang="fa-IR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fa-IR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برای تولید پاسخ نهایی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00812-6354-1C7F-6EA5-CEDB1836D8C3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5/</a:t>
            </a:r>
            <a:r>
              <a:rPr lang="fa-IR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solidFill>
                <a:schemeClr val="bg1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596D7-8A3D-DC96-60F8-93CF3A3586E0}"/>
              </a:ext>
            </a:extLst>
          </p:cNvPr>
          <p:cNvSpPr txBox="1"/>
          <p:nvPr/>
        </p:nvSpPr>
        <p:spPr>
          <a:xfrm>
            <a:off x="2116370" y="457620"/>
            <a:ext cx="2396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3600" b="1" dirty="0">
                <a:solidFill>
                  <a:schemeClr val="tx2"/>
                </a:solidFill>
              </a:rPr>
              <a:t>چیست</a:t>
            </a:r>
            <a:r>
              <a:rPr lang="fa-IR" sz="3600" b="1" dirty="0">
                <a:solidFill>
                  <a:srgbClr val="2F435A"/>
                </a:solidFill>
              </a:rPr>
              <a:t>؟</a:t>
            </a:r>
            <a:endParaRPr lang="en-US" sz="3600" b="1" dirty="0">
              <a:solidFill>
                <a:srgbClr val="2F435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D6546-AB64-BEAA-C2B2-43A6A074BD4B}"/>
              </a:ext>
            </a:extLst>
          </p:cNvPr>
          <p:cNvSpPr txBox="1"/>
          <p:nvPr/>
        </p:nvSpPr>
        <p:spPr>
          <a:xfrm>
            <a:off x="7425862" y="1315806"/>
            <a:ext cx="1156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RAG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62AC7-EEEF-4595-21F7-3C02D778BB83}"/>
              </a:ext>
            </a:extLst>
          </p:cNvPr>
          <p:cNvSpPr txBox="1"/>
          <p:nvPr/>
        </p:nvSpPr>
        <p:spPr>
          <a:xfrm>
            <a:off x="4835062" y="1329895"/>
            <a:ext cx="2729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/>
              <a:t>از دو بخش تشکیل شده است: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0867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07D4B-F61D-CAB6-B47C-E30FC6D3EDFD}"/>
              </a:ext>
            </a:extLst>
          </p:cNvPr>
          <p:cNvSpPr/>
          <p:nvPr/>
        </p:nvSpPr>
        <p:spPr>
          <a:xfrm>
            <a:off x="0" y="4668982"/>
            <a:ext cx="9144000" cy="4745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1DD51DB-380F-4D1A-0A47-C13874CC7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1609069"/>
              </p:ext>
            </p:extLst>
          </p:nvPr>
        </p:nvGraphicFramePr>
        <p:xfrm>
          <a:off x="-228599" y="0"/>
          <a:ext cx="4073235" cy="4977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60972BB-1DE4-9F17-042F-482814E99D40}"/>
              </a:ext>
            </a:extLst>
          </p:cNvPr>
          <p:cNvSpPr txBox="1"/>
          <p:nvPr/>
        </p:nvSpPr>
        <p:spPr>
          <a:xfrm>
            <a:off x="3844636" y="1208308"/>
            <a:ext cx="446808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dirty="0"/>
              <a:t>معماری از دو بخش اصلی تشکیل شده است:</a:t>
            </a:r>
          </a:p>
          <a:p>
            <a:pPr algn="r"/>
            <a:endParaRPr lang="fa-IR" sz="1600" dirty="0"/>
          </a:p>
          <a:p>
            <a:pPr algn="r"/>
            <a:r>
              <a:rPr lang="fa-IR" sz="1600" dirty="0"/>
              <a:t>بخش بازیابی اطلاعات که وظیفه جستجوی اطلاعات مرتبط را بر عهده دارد و مدل زبانی که پاسخ نهایی را تولید می‌کند.</a:t>
            </a:r>
          </a:p>
          <a:p>
            <a:pPr algn="r"/>
            <a:endParaRPr lang="fa-IR" sz="1600" dirty="0"/>
          </a:p>
          <a:p>
            <a:pPr algn="r"/>
            <a:r>
              <a:rPr lang="fa-IR" sz="1600" dirty="0"/>
              <a:t>در این معماری، مدل زبانی مستقیماً به سوال پاسخ نمی‌دهد.</a:t>
            </a:r>
          </a:p>
          <a:p>
            <a:pPr algn="r"/>
            <a:endParaRPr lang="fa-IR" sz="1600" dirty="0"/>
          </a:p>
          <a:p>
            <a:pPr algn="r"/>
            <a:r>
              <a:rPr lang="fa-IR" sz="1600" dirty="0"/>
              <a:t>ابتدا اطلاعات موردنیاز از میان اسناد موجود پیدا می‌شود و سپس این اطلاعات به مدل داده می‌شود تا پاسخ دقیق‌تری تولید کند.</a:t>
            </a:r>
          </a:p>
          <a:p>
            <a:pPr algn="r"/>
            <a:endParaRPr lang="fa-IR" sz="1600" dirty="0"/>
          </a:p>
          <a:p>
            <a:pPr algn="r"/>
            <a:r>
              <a:rPr lang="fa-IR" sz="1600" dirty="0"/>
              <a:t>این فرآیند باعث می‌شود سیستم علاوه بر دانش ذخیره‌شده در مدل، از اطلاعات واقعی موجود در اسناد نیز استفاده کند و احتمال تولید پاسخ‌های اشتباه کاهش یابد.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B2266-20AF-B1F7-2E42-CA421E209B0F}"/>
              </a:ext>
            </a:extLst>
          </p:cNvPr>
          <p:cNvSpPr txBox="1"/>
          <p:nvPr/>
        </p:nvSpPr>
        <p:spPr>
          <a:xfrm>
            <a:off x="6754091" y="468511"/>
            <a:ext cx="2227038" cy="51077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RAG </a:t>
            </a:r>
            <a:r>
              <a:rPr lang="fa-IR" sz="2400" dirty="0"/>
              <a:t>معماری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7158E-9A99-5208-120D-3E00F0B53285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6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1159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0128-A013-3904-459C-67950C480F4E}"/>
              </a:ext>
            </a:extLst>
          </p:cNvPr>
          <p:cNvSpPr/>
          <p:nvPr/>
        </p:nvSpPr>
        <p:spPr>
          <a:xfrm>
            <a:off x="0" y="4627418"/>
            <a:ext cx="9144000" cy="516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EAE589BF-1FEB-D931-3CAD-96DDEAA8D85D}"/>
              </a:ext>
            </a:extLst>
          </p:cNvPr>
          <p:cNvSpPr/>
          <p:nvPr/>
        </p:nvSpPr>
        <p:spPr>
          <a:xfrm>
            <a:off x="1246909" y="415637"/>
            <a:ext cx="2946689" cy="983672"/>
          </a:xfrm>
          <a:prstGeom prst="lef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6728D47D-0452-8FBE-6B94-073C007AAE59}"/>
              </a:ext>
            </a:extLst>
          </p:cNvPr>
          <p:cNvSpPr/>
          <p:nvPr/>
        </p:nvSpPr>
        <p:spPr>
          <a:xfrm flipH="1">
            <a:off x="4950402" y="408710"/>
            <a:ext cx="2946688" cy="983672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279C79-3678-4D14-9975-7C6AA89090AF}"/>
              </a:ext>
            </a:extLst>
          </p:cNvPr>
          <p:cNvSpPr/>
          <p:nvPr/>
        </p:nvSpPr>
        <p:spPr>
          <a:xfrm>
            <a:off x="4193598" y="519546"/>
            <a:ext cx="756804" cy="762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65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4DCE91-B0B2-2291-2B65-E8912AC8A925}"/>
              </a:ext>
            </a:extLst>
          </p:cNvPr>
          <p:cNvSpPr/>
          <p:nvPr/>
        </p:nvSpPr>
        <p:spPr>
          <a:xfrm>
            <a:off x="1925781" y="554182"/>
            <a:ext cx="706582" cy="70658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918AC1-2FF1-BF89-DA59-0C10ADA96B55}"/>
              </a:ext>
            </a:extLst>
          </p:cNvPr>
          <p:cNvSpPr/>
          <p:nvPr/>
        </p:nvSpPr>
        <p:spPr>
          <a:xfrm>
            <a:off x="6511637" y="547255"/>
            <a:ext cx="706582" cy="70658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2314FD-012E-C26D-6CFF-13D4179C168D}"/>
              </a:ext>
            </a:extLst>
          </p:cNvPr>
          <p:cNvCxnSpPr/>
          <p:nvPr/>
        </p:nvCxnSpPr>
        <p:spPr>
          <a:xfrm>
            <a:off x="3969327" y="1149927"/>
            <a:ext cx="0" cy="2964873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EF884A-263F-0FCC-3ADA-36AA7C010F7A}"/>
              </a:ext>
            </a:extLst>
          </p:cNvPr>
          <p:cNvCxnSpPr/>
          <p:nvPr/>
        </p:nvCxnSpPr>
        <p:spPr>
          <a:xfrm>
            <a:off x="5195455" y="1149927"/>
            <a:ext cx="0" cy="296487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6B7EAEE-187D-FFC1-6474-BD4620F8A6B0}"/>
              </a:ext>
            </a:extLst>
          </p:cNvPr>
          <p:cNvSpPr/>
          <p:nvPr/>
        </p:nvSpPr>
        <p:spPr>
          <a:xfrm>
            <a:off x="3764974" y="1731817"/>
            <a:ext cx="408706" cy="4017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42F42D-6393-E89D-A87E-91BAB40CB025}"/>
              </a:ext>
            </a:extLst>
          </p:cNvPr>
          <p:cNvSpPr/>
          <p:nvPr/>
        </p:nvSpPr>
        <p:spPr>
          <a:xfrm>
            <a:off x="3764974" y="2370859"/>
            <a:ext cx="408706" cy="4017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44334A-08AE-4AA1-BFD7-3B7DD1BC4FA2}"/>
              </a:ext>
            </a:extLst>
          </p:cNvPr>
          <p:cNvSpPr/>
          <p:nvPr/>
        </p:nvSpPr>
        <p:spPr>
          <a:xfrm>
            <a:off x="3771901" y="3053195"/>
            <a:ext cx="408706" cy="4017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D32FFE-6927-E8FB-D2B6-8EB34E6D6C11}"/>
              </a:ext>
            </a:extLst>
          </p:cNvPr>
          <p:cNvSpPr/>
          <p:nvPr/>
        </p:nvSpPr>
        <p:spPr>
          <a:xfrm>
            <a:off x="4998029" y="1731817"/>
            <a:ext cx="408706" cy="40178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9F5BFB-09E9-2413-E04E-8286C8282AFA}"/>
              </a:ext>
            </a:extLst>
          </p:cNvPr>
          <p:cNvSpPr/>
          <p:nvPr/>
        </p:nvSpPr>
        <p:spPr>
          <a:xfrm>
            <a:off x="4991102" y="2370859"/>
            <a:ext cx="408706" cy="40178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483A85-23B5-842B-80A7-8E814BDB3265}"/>
              </a:ext>
            </a:extLst>
          </p:cNvPr>
          <p:cNvSpPr/>
          <p:nvPr/>
        </p:nvSpPr>
        <p:spPr>
          <a:xfrm>
            <a:off x="4998029" y="3041938"/>
            <a:ext cx="408706" cy="40178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BAF9E4-A65B-140A-AD66-684428B422AF}"/>
              </a:ext>
            </a:extLst>
          </p:cNvPr>
          <p:cNvSpPr/>
          <p:nvPr/>
        </p:nvSpPr>
        <p:spPr>
          <a:xfrm>
            <a:off x="3771901" y="3744191"/>
            <a:ext cx="408706" cy="4017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28677F-3D92-8471-233A-A894BA1AD596}"/>
              </a:ext>
            </a:extLst>
          </p:cNvPr>
          <p:cNvSpPr/>
          <p:nvPr/>
        </p:nvSpPr>
        <p:spPr>
          <a:xfrm>
            <a:off x="4998029" y="3744191"/>
            <a:ext cx="408706" cy="40178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8EF47C-1F1F-089F-C00C-6A3A04D679C3}"/>
              </a:ext>
            </a:extLst>
          </p:cNvPr>
          <p:cNvSpPr txBox="1"/>
          <p:nvPr/>
        </p:nvSpPr>
        <p:spPr>
          <a:xfrm>
            <a:off x="2632363" y="715880"/>
            <a:ext cx="1082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Retriever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F0946-0DEE-DF92-E205-4BE5AD323CA7}"/>
              </a:ext>
            </a:extLst>
          </p:cNvPr>
          <p:cNvSpPr txBox="1"/>
          <p:nvPr/>
        </p:nvSpPr>
        <p:spPr>
          <a:xfrm>
            <a:off x="5383703" y="704806"/>
            <a:ext cx="1303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Generator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45539F-A7EC-155C-B426-3F8151220089}"/>
              </a:ext>
            </a:extLst>
          </p:cNvPr>
          <p:cNvSpPr txBox="1"/>
          <p:nvPr/>
        </p:nvSpPr>
        <p:spPr>
          <a:xfrm>
            <a:off x="1455421" y="1717961"/>
            <a:ext cx="222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/>
              <a:t>جستجوی اطلاعات مرتبط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4AD548-C71C-924F-E0C7-A29EACCC0954}"/>
              </a:ext>
            </a:extLst>
          </p:cNvPr>
          <p:cNvSpPr txBox="1"/>
          <p:nvPr/>
        </p:nvSpPr>
        <p:spPr>
          <a:xfrm>
            <a:off x="1454039" y="2376935"/>
            <a:ext cx="222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/>
              <a:t>یافتن بهترین اسناد</a:t>
            </a:r>
            <a:endParaRPr lang="fa-IR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C8B74-6EE6-60B5-C83F-AB44257982EA}"/>
              </a:ext>
            </a:extLst>
          </p:cNvPr>
          <p:cNvSpPr txBox="1"/>
          <p:nvPr/>
        </p:nvSpPr>
        <p:spPr>
          <a:xfrm>
            <a:off x="1460966" y="3041938"/>
            <a:ext cx="222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/>
              <a:t>ارسال اسناد به مدل زبانی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70F3EA-B4F7-FF5A-FE23-7EEC02BA2A47}"/>
              </a:ext>
            </a:extLst>
          </p:cNvPr>
          <p:cNvSpPr txBox="1"/>
          <p:nvPr/>
        </p:nvSpPr>
        <p:spPr>
          <a:xfrm>
            <a:off x="5293825" y="3041938"/>
            <a:ext cx="222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/>
              <a:t>تولید پاسخ نهایی</a:t>
            </a:r>
            <a:endParaRPr lang="fa-IR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67904-B5AA-41FE-CDC3-BFF31A8AEF75}"/>
              </a:ext>
            </a:extLst>
          </p:cNvPr>
          <p:cNvSpPr txBox="1"/>
          <p:nvPr/>
        </p:nvSpPr>
        <p:spPr>
          <a:xfrm>
            <a:off x="5304215" y="2379958"/>
            <a:ext cx="222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/>
              <a:t>دریافت اطلاعات بازیابی شده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B47C80-9C41-3256-6E5B-429BAB85C1A5}"/>
              </a:ext>
            </a:extLst>
          </p:cNvPr>
          <p:cNvSpPr txBox="1"/>
          <p:nvPr/>
        </p:nvSpPr>
        <p:spPr>
          <a:xfrm>
            <a:off x="5293825" y="1730551"/>
            <a:ext cx="2220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/>
              <a:t>دریافت سوال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9FBEFF-8721-C2F3-576B-A4293D39382D}"/>
              </a:ext>
            </a:extLst>
          </p:cNvPr>
          <p:cNvSpPr txBox="1"/>
          <p:nvPr/>
        </p:nvSpPr>
        <p:spPr>
          <a:xfrm>
            <a:off x="248517" y="3620071"/>
            <a:ext cx="349654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b="1" dirty="0"/>
              <a:t>این بخش مانند یک موتور جستجو عمل می‌کند. سوال کاربر را دریافت کرده و در میان حجم زیادی از اطلاعات به دنبال مرتبط‌ ترین بخش‌ها می‌گردد. </a:t>
            </a:r>
          </a:p>
          <a:p>
            <a:pPr algn="ctr"/>
            <a:r>
              <a:rPr lang="fa-IR" sz="1200" b="1" dirty="0"/>
              <a:t>سپس نتایج را برای تولید پاسخ ارسال می‌کند.</a:t>
            </a:r>
            <a:endParaRPr 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E9131B-C0CC-045B-CFF7-7281860D32E4}"/>
              </a:ext>
            </a:extLst>
          </p:cNvPr>
          <p:cNvSpPr txBox="1"/>
          <p:nvPr/>
        </p:nvSpPr>
        <p:spPr>
          <a:xfrm>
            <a:off x="5596371" y="3637506"/>
            <a:ext cx="324369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b="1" dirty="0"/>
              <a:t>پس از پیدا شدن اطلاعات، مدل زبانی از آن‌ها استفاده می‌کند تا پاسخ مناسبی تولید کند.</a:t>
            </a:r>
          </a:p>
          <a:p>
            <a:pPr algn="ctr"/>
            <a:r>
              <a:rPr lang="fa-IR" sz="1200" b="1" dirty="0"/>
              <a:t>به این ترتیب پاسخ تنها بر اساس حافظه مدل نیست و از اطلاعات واقعی نیز استفاده می‌شود</a:t>
            </a:r>
            <a:r>
              <a:rPr lang="fa-IR" sz="1200" dirty="0"/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121578-675C-3FCE-E8B9-30438141CDA8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7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4328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D2D66-7957-4595-9EFA-3FD8100D7691}"/>
              </a:ext>
            </a:extLst>
          </p:cNvPr>
          <p:cNvSpPr txBox="1"/>
          <p:nvPr/>
        </p:nvSpPr>
        <p:spPr>
          <a:xfrm>
            <a:off x="3034146" y="277090"/>
            <a:ext cx="3297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RAG </a:t>
            </a:r>
            <a:r>
              <a:rPr lang="fa-IR" sz="3200" b="1" dirty="0"/>
              <a:t>نحوه عملکرد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54392F1-A3DA-DD2D-99AD-332DEBC65976}"/>
              </a:ext>
            </a:extLst>
          </p:cNvPr>
          <p:cNvSpPr/>
          <p:nvPr/>
        </p:nvSpPr>
        <p:spPr>
          <a:xfrm>
            <a:off x="935182" y="999259"/>
            <a:ext cx="2687782" cy="271549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  <a:p>
            <a:pPr algn="ctr"/>
            <a:r>
              <a:rPr lang="fa-IR" sz="2000" b="1" dirty="0">
                <a:solidFill>
                  <a:schemeClr val="accent1">
                    <a:lumMod val="75000"/>
                  </a:schemeClr>
                </a:solidFill>
              </a:rPr>
              <a:t>مدل پاسخ مناسب را تولید می‌کند.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fa-IR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4D84D8-3658-6A74-D216-52FC1E74CF40}"/>
              </a:ext>
            </a:extLst>
          </p:cNvPr>
          <p:cNvSpPr/>
          <p:nvPr/>
        </p:nvSpPr>
        <p:spPr>
          <a:xfrm>
            <a:off x="0" y="4689764"/>
            <a:ext cx="9144000" cy="453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7FB68C-A075-63B3-690B-774065F4BF01}"/>
              </a:ext>
            </a:extLst>
          </p:cNvPr>
          <p:cNvSpPr/>
          <p:nvPr/>
        </p:nvSpPr>
        <p:spPr>
          <a:xfrm>
            <a:off x="3318166" y="1000990"/>
            <a:ext cx="2687782" cy="271549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  <a:p>
            <a:pPr algn="ctr"/>
            <a:r>
              <a:rPr lang="fa-IR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اطلاعات پیدا شده به مدل زبانی داده می‌شود.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24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CA2D45-08B8-BD52-7ECD-0A28FA6139CB}"/>
              </a:ext>
            </a:extLst>
          </p:cNvPr>
          <p:cNvSpPr/>
          <p:nvPr/>
        </p:nvSpPr>
        <p:spPr>
          <a:xfrm>
            <a:off x="5784273" y="999258"/>
            <a:ext cx="2687782" cy="271549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fa-I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a-IR" sz="2000" dirty="0">
                <a:solidFill>
                  <a:schemeClr val="accent1">
                    <a:lumMod val="75000"/>
                  </a:schemeClr>
                </a:solidFill>
              </a:rPr>
              <a:t>متن‌های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Retriever</a:t>
            </a:r>
            <a:r>
              <a:rPr lang="fa-IR" sz="2000" dirty="0">
                <a:solidFill>
                  <a:schemeClr val="accent1">
                    <a:lumMod val="75000"/>
                  </a:schemeClr>
                </a:solidFill>
              </a:rPr>
              <a:t> مرتبط را از پایگاه دانش پیدا می‌کند.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DA258-6A6A-C21E-2A41-056F9B799D77}"/>
              </a:ext>
            </a:extLst>
          </p:cNvPr>
          <p:cNvSpPr txBox="1"/>
          <p:nvPr/>
        </p:nvSpPr>
        <p:spPr>
          <a:xfrm>
            <a:off x="1776845" y="4080010"/>
            <a:ext cx="5811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200" dirty="0"/>
              <a:t>فرض کنید کاربر درباره یک موضوع سوال می‌پرسد. سیستم ابتدا اسناد مرتبط را پیدا می‌کند و سپس با استفاده از آن اسناد پاسخ مناسب را تولید می‌کند. این فرآیند باعث افزایش دقت پاسخ می‌شود.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EA8AF-60F3-1F24-CADB-CBBC8CF5BCFA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8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15851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488DB-DE9E-4209-8A2D-408F4DF3A7A3}"/>
              </a:ext>
            </a:extLst>
          </p:cNvPr>
          <p:cNvSpPr/>
          <p:nvPr/>
        </p:nvSpPr>
        <p:spPr>
          <a:xfrm>
            <a:off x="4523509" y="0"/>
            <a:ext cx="4620491" cy="4752109"/>
          </a:xfrm>
          <a:prstGeom prst="rect">
            <a:avLst/>
          </a:prstGeom>
          <a:solidFill>
            <a:srgbClr val="2F435A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3E1D2-04BE-B36C-DEFD-5093C73B2789}"/>
              </a:ext>
            </a:extLst>
          </p:cNvPr>
          <p:cNvSpPr txBox="1"/>
          <p:nvPr/>
        </p:nvSpPr>
        <p:spPr>
          <a:xfrm>
            <a:off x="1874971" y="89833"/>
            <a:ext cx="5297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highlight>
                  <a:srgbClr val="C0C0C0"/>
                </a:highlight>
              </a:rPr>
              <a:t>RAG </a:t>
            </a:r>
            <a:r>
              <a:rPr lang="fa-IR" sz="2400" b="1" dirty="0">
                <a:highlight>
                  <a:srgbClr val="C0C0C0"/>
                </a:highlight>
              </a:rPr>
              <a:t>انواع</a:t>
            </a:r>
            <a:endParaRPr lang="en-US" sz="2400" b="1" dirty="0">
              <a:highlight>
                <a:srgbClr val="C0C0C0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2E6BC7-2CDE-E630-0B17-181AA014A620}"/>
              </a:ext>
            </a:extLst>
          </p:cNvPr>
          <p:cNvSpPr/>
          <p:nvPr/>
        </p:nvSpPr>
        <p:spPr>
          <a:xfrm>
            <a:off x="0" y="4722839"/>
            <a:ext cx="4523509" cy="435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AEE291-4D95-D155-81ED-F8F06EC2DD65}"/>
              </a:ext>
            </a:extLst>
          </p:cNvPr>
          <p:cNvSpPr txBox="1"/>
          <p:nvPr/>
        </p:nvSpPr>
        <p:spPr>
          <a:xfrm>
            <a:off x="-57738" y="104009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>
                <a:highlight>
                  <a:srgbClr val="FFFF00"/>
                </a:highlight>
              </a:rPr>
              <a:t>RAG-Token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9A4D7-642D-8636-FD99-12AB5B1BFD8A}"/>
              </a:ext>
            </a:extLst>
          </p:cNvPr>
          <p:cNvSpPr txBox="1"/>
          <p:nvPr/>
        </p:nvSpPr>
        <p:spPr>
          <a:xfrm>
            <a:off x="-96984" y="1632364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b="0" i="0" dirty="0">
                <a:solidFill>
                  <a:srgbClr val="091E42"/>
                </a:solidFill>
                <a:effectLst/>
                <a:latin typeface="Shabnam" panose="020B0604020202020204" charset="0"/>
              </a:rPr>
              <a:t>در این روش هر کلمه می‌تواند از سند متفاوتی استفاده کند.</a:t>
            </a:r>
          </a:p>
          <a:p>
            <a:pPr algn="r"/>
            <a:endParaRPr lang="fa-IR" sz="1600" dirty="0">
              <a:solidFill>
                <a:srgbClr val="091E42"/>
              </a:solidFill>
              <a:latin typeface="Shabnam" panose="020B0604020202020204" charset="0"/>
            </a:endParaRPr>
          </a:p>
          <a:p>
            <a:pPr algn="r"/>
            <a:endParaRPr lang="fa-IR" sz="1600" dirty="0">
              <a:solidFill>
                <a:srgbClr val="091E42"/>
              </a:solidFill>
              <a:latin typeface="Shabnam" panose="020B0604020202020204" charset="0"/>
            </a:endParaRPr>
          </a:p>
          <a:p>
            <a:pPr algn="r"/>
            <a:r>
              <a:rPr lang="fa-IR" sz="2000" b="1" i="0" dirty="0">
                <a:solidFill>
                  <a:srgbClr val="091E42"/>
                </a:solidFill>
                <a:effectLst/>
                <a:latin typeface="Shabnam" panose="020B0604020202020204" charset="0"/>
              </a:rPr>
              <a:t>مزیت:</a:t>
            </a:r>
          </a:p>
          <a:p>
            <a:pPr algn="r"/>
            <a:r>
              <a:rPr lang="fa-IR" sz="1600" b="0" i="0" dirty="0">
                <a:solidFill>
                  <a:srgbClr val="091E42"/>
                </a:solidFill>
                <a:effectLst/>
                <a:latin typeface="Shabnam" panose="020B0604020202020204" charset="0"/>
              </a:rPr>
              <a:t>    انعطاف بیشتر</a:t>
            </a:r>
          </a:p>
          <a:p>
            <a:pPr algn="r"/>
            <a:r>
              <a:rPr lang="fa-IR" sz="1600" b="0" i="0" dirty="0">
                <a:solidFill>
                  <a:srgbClr val="091E42"/>
                </a:solidFill>
                <a:effectLst/>
                <a:latin typeface="Shabnam" panose="020B0604020202020204" charset="0"/>
              </a:rPr>
              <a:t>    دقت بالاتر در پاسخ‌های پیچیده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47660F-1A66-B4CA-36FC-E7B2C5A24979}"/>
              </a:ext>
            </a:extLst>
          </p:cNvPr>
          <p:cNvSpPr txBox="1"/>
          <p:nvPr/>
        </p:nvSpPr>
        <p:spPr>
          <a:xfrm>
            <a:off x="7069283" y="1037327"/>
            <a:ext cx="2026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>
                <a:highlight>
                  <a:srgbClr val="FFFF00"/>
                </a:highlight>
              </a:rPr>
              <a:t>RAG-Sequence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8B36B9-4C32-CFB1-6E84-B09870892C70}"/>
              </a:ext>
            </a:extLst>
          </p:cNvPr>
          <p:cNvSpPr txBox="1"/>
          <p:nvPr/>
        </p:nvSpPr>
        <p:spPr>
          <a:xfrm>
            <a:off x="4523508" y="1582625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dirty="0">
                <a:solidFill>
                  <a:schemeClr val="bg1"/>
                </a:solidFill>
              </a:rPr>
              <a:t>در این روش کل پاسخ بر اساس یک سند تولید می‌شود.</a:t>
            </a:r>
          </a:p>
          <a:p>
            <a:pPr algn="r"/>
            <a:endParaRPr lang="fa-IR" sz="1600" dirty="0">
              <a:solidFill>
                <a:schemeClr val="bg1"/>
              </a:solidFill>
            </a:endParaRPr>
          </a:p>
          <a:p>
            <a:pPr algn="r"/>
            <a:endParaRPr lang="en-US" sz="1600" dirty="0">
              <a:solidFill>
                <a:schemeClr val="bg1"/>
              </a:solidFill>
            </a:endParaRPr>
          </a:p>
          <a:p>
            <a:pPr algn="r"/>
            <a:r>
              <a:rPr lang="fa-IR" sz="2000" b="1" dirty="0">
                <a:solidFill>
                  <a:schemeClr val="bg1"/>
                </a:solidFill>
              </a:rPr>
              <a:t>مزیت:</a:t>
            </a:r>
            <a:endParaRPr lang="en-US" sz="1600" dirty="0">
              <a:solidFill>
                <a:schemeClr val="bg1"/>
              </a:solidFill>
            </a:endParaRPr>
          </a:p>
          <a:p>
            <a:pPr algn="r"/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fa-IR" sz="1600" dirty="0">
                <a:solidFill>
                  <a:schemeClr val="bg1"/>
                </a:solidFill>
              </a:rPr>
              <a:t>     سرعت بیشتر</a:t>
            </a:r>
            <a:endParaRPr lang="en-US" sz="1600" dirty="0">
              <a:solidFill>
                <a:schemeClr val="bg1"/>
              </a:solidFill>
            </a:endParaRPr>
          </a:p>
          <a:p>
            <a:pPr algn="r"/>
            <a:r>
              <a:rPr lang="fa-IR" sz="1600" dirty="0">
                <a:solidFill>
                  <a:schemeClr val="bg1"/>
                </a:solidFill>
              </a:rPr>
              <a:t>     سادگی بیشتر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0DDB-2D5E-99C4-59DB-84E0664F0C82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9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644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329B5-34CE-BD8F-1754-3D4496E34FF0}"/>
              </a:ext>
            </a:extLst>
          </p:cNvPr>
          <p:cNvSpPr/>
          <p:nvPr/>
        </p:nvSpPr>
        <p:spPr>
          <a:xfrm>
            <a:off x="7612912" y="-21227"/>
            <a:ext cx="1613511" cy="963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7A10E-FB93-E1EF-BCB9-9F5DD7D407A6}"/>
              </a:ext>
            </a:extLst>
          </p:cNvPr>
          <p:cNvSpPr/>
          <p:nvPr/>
        </p:nvSpPr>
        <p:spPr>
          <a:xfrm>
            <a:off x="6784911" y="4210493"/>
            <a:ext cx="2403763" cy="1066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5F30E-B7EF-FC99-74DD-3173C984BBF4}"/>
              </a:ext>
            </a:extLst>
          </p:cNvPr>
          <p:cNvSpPr/>
          <p:nvPr/>
        </p:nvSpPr>
        <p:spPr>
          <a:xfrm>
            <a:off x="0" y="4670367"/>
            <a:ext cx="7010400" cy="580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E758C2-B6B9-9356-AA8F-8FA569FC4E86}"/>
              </a:ext>
            </a:extLst>
          </p:cNvPr>
          <p:cNvSpPr/>
          <p:nvPr/>
        </p:nvSpPr>
        <p:spPr>
          <a:xfrm>
            <a:off x="4246417" y="-179854"/>
            <a:ext cx="5590309" cy="54309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D2C06607-2E34-D252-DFD7-8F120A270331}"/>
              </a:ext>
            </a:extLst>
          </p:cNvPr>
          <p:cNvSpPr/>
          <p:nvPr/>
        </p:nvSpPr>
        <p:spPr>
          <a:xfrm rot="10287615">
            <a:off x="3898219" y="-104957"/>
            <a:ext cx="4627890" cy="5540834"/>
          </a:xfrm>
          <a:prstGeom prst="arc">
            <a:avLst>
              <a:gd name="adj1" fmla="val 16171348"/>
              <a:gd name="adj2" fmla="val 57158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5B901A-9260-B16F-40D4-8AAD4C078B48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26/29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589D7E-9228-E246-3700-8B335B840386}"/>
              </a:ext>
            </a:extLst>
          </p:cNvPr>
          <p:cNvSpPr/>
          <p:nvPr/>
        </p:nvSpPr>
        <p:spPr>
          <a:xfrm>
            <a:off x="3591531" y="614695"/>
            <a:ext cx="590550" cy="536216"/>
          </a:xfrm>
          <a:prstGeom prst="ellipse">
            <a:avLst/>
          </a:prstGeom>
          <a:solidFill>
            <a:srgbClr val="2F435A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2DEF03-BBD4-B51F-BFA6-914F9A51FC31}"/>
              </a:ext>
            </a:extLst>
          </p:cNvPr>
          <p:cNvSpPr/>
          <p:nvPr/>
        </p:nvSpPr>
        <p:spPr>
          <a:xfrm>
            <a:off x="3184339" y="1648956"/>
            <a:ext cx="590550" cy="536216"/>
          </a:xfrm>
          <a:prstGeom prst="ellipse">
            <a:avLst/>
          </a:prstGeom>
          <a:solidFill>
            <a:srgbClr val="2F435A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80F5CC-8A0F-FBB8-81F9-4C474B5FCFB6}"/>
              </a:ext>
            </a:extLst>
          </p:cNvPr>
          <p:cNvSpPr/>
          <p:nvPr/>
        </p:nvSpPr>
        <p:spPr>
          <a:xfrm>
            <a:off x="3262498" y="2891876"/>
            <a:ext cx="590550" cy="536216"/>
          </a:xfrm>
          <a:prstGeom prst="ellipse">
            <a:avLst/>
          </a:prstGeom>
          <a:solidFill>
            <a:srgbClr val="2F435A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34C5CB-6DC7-A55D-84D2-4AA47CD2B943}"/>
              </a:ext>
            </a:extLst>
          </p:cNvPr>
          <p:cNvSpPr/>
          <p:nvPr/>
        </p:nvSpPr>
        <p:spPr>
          <a:xfrm>
            <a:off x="3730417" y="4090414"/>
            <a:ext cx="590550" cy="536216"/>
          </a:xfrm>
          <a:prstGeom prst="ellipse">
            <a:avLst/>
          </a:prstGeom>
          <a:solidFill>
            <a:srgbClr val="2F435A"/>
          </a:solidFill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5ACCB8-8A69-A84F-E760-F5AA5680A215}"/>
              </a:ext>
            </a:extLst>
          </p:cNvPr>
          <p:cNvSpPr txBox="1"/>
          <p:nvPr/>
        </p:nvSpPr>
        <p:spPr>
          <a:xfrm>
            <a:off x="5353854" y="1402627"/>
            <a:ext cx="3375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800" b="1" dirty="0">
                <a:solidFill>
                  <a:schemeClr val="bg1"/>
                </a:solidFill>
              </a:rPr>
              <a:t>نتایج مقاله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2426D1-7895-4650-8229-51EBF8B670D8}"/>
              </a:ext>
            </a:extLst>
          </p:cNvPr>
          <p:cNvSpPr txBox="1"/>
          <p:nvPr/>
        </p:nvSpPr>
        <p:spPr>
          <a:xfrm>
            <a:off x="5468034" y="1946158"/>
            <a:ext cx="30847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400" dirty="0">
                <a:solidFill>
                  <a:schemeClr val="bg1"/>
                </a:solidFill>
              </a:rPr>
              <a:t>نتایج آزمایش‌ها نشان داد که این روش در بسیاری از وظایف پردازش زبان طبیعی عملکرد بهتری نسبت به مدل‌های سنتی دارد و پاسخ‌های دقیق‌تر و قابل اعتمادتری تولید می‌کند.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00BC9E-0873-C6F7-6A1B-2D2CCF4FDBEC}"/>
              </a:ext>
            </a:extLst>
          </p:cNvPr>
          <p:cNvSpPr txBox="1"/>
          <p:nvPr/>
        </p:nvSpPr>
        <p:spPr>
          <a:xfrm>
            <a:off x="249235" y="696395"/>
            <a:ext cx="32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dirty="0"/>
              <a:t>دقت پاسخ‌ها افزایش یافته است.</a:t>
            </a:r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73E6A9-C33C-842A-0C3E-8272613F629F}"/>
              </a:ext>
            </a:extLst>
          </p:cNvPr>
          <p:cNvSpPr txBox="1"/>
          <p:nvPr/>
        </p:nvSpPr>
        <p:spPr>
          <a:xfrm>
            <a:off x="-23838" y="2976674"/>
            <a:ext cx="32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dirty="0"/>
              <a:t>پاسخ‌ها واقعی‌تر و دقیق‌تر شده‌اند.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90952-C3FA-4970-51EE-4DA8CFA204CD}"/>
              </a:ext>
            </a:extLst>
          </p:cNvPr>
          <p:cNvSpPr txBox="1"/>
          <p:nvPr/>
        </p:nvSpPr>
        <p:spPr>
          <a:xfrm>
            <a:off x="-126933" y="1772564"/>
            <a:ext cx="32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dirty="0"/>
              <a:t>خطاهای مدل کاهش یافته‌اند.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5F556A-EF85-6D45-0553-E3E069EEE237}"/>
              </a:ext>
            </a:extLst>
          </p:cNvPr>
          <p:cNvSpPr txBox="1"/>
          <p:nvPr/>
        </p:nvSpPr>
        <p:spPr>
          <a:xfrm>
            <a:off x="108214" y="4223893"/>
            <a:ext cx="36222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200" dirty="0"/>
              <a:t>عملکرد بهتری نسبت به بسیاری از مدل‌های قبلی داشته است.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EB696D-266C-12B2-C237-3A23DF425BA2}"/>
              </a:ext>
            </a:extLst>
          </p:cNvPr>
          <p:cNvSpPr txBox="1"/>
          <p:nvPr/>
        </p:nvSpPr>
        <p:spPr>
          <a:xfrm>
            <a:off x="-23838" y="4945952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10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4342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ED8F2F-0849-35ED-A6FC-6EAD4B99603C}"/>
              </a:ext>
            </a:extLst>
          </p:cNvPr>
          <p:cNvSpPr/>
          <p:nvPr/>
        </p:nvSpPr>
        <p:spPr>
          <a:xfrm>
            <a:off x="0" y="4692502"/>
            <a:ext cx="9144000" cy="45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7E13B8-949E-9F4E-450D-AF0D89882C72}"/>
              </a:ext>
            </a:extLst>
          </p:cNvPr>
          <p:cNvSpPr/>
          <p:nvPr/>
        </p:nvSpPr>
        <p:spPr>
          <a:xfrm>
            <a:off x="-76201" y="1"/>
            <a:ext cx="9462655" cy="51954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2F04291F-9A38-AE09-4029-531CC19D775C}"/>
              </a:ext>
            </a:extLst>
          </p:cNvPr>
          <p:cNvSpPr/>
          <p:nvPr/>
        </p:nvSpPr>
        <p:spPr>
          <a:xfrm rot="18880028">
            <a:off x="1287131" y="-748667"/>
            <a:ext cx="2510428" cy="2036618"/>
          </a:xfrm>
          <a:prstGeom prst="mathMinu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Minus Sign 14">
            <a:extLst>
              <a:ext uri="{FF2B5EF4-FFF2-40B4-BE49-F238E27FC236}">
                <a16:creationId xmlns:a16="http://schemas.microsoft.com/office/drawing/2014/main" id="{765FB1A4-517A-4DFC-4AE9-5EE4A90627A7}"/>
              </a:ext>
            </a:extLst>
          </p:cNvPr>
          <p:cNvSpPr/>
          <p:nvPr/>
        </p:nvSpPr>
        <p:spPr>
          <a:xfrm rot="18880028">
            <a:off x="5714955" y="3822753"/>
            <a:ext cx="2510428" cy="2036618"/>
          </a:xfrm>
          <a:prstGeom prst="mathMinu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87467F-5A86-5F42-01FA-A19A3984DA08}"/>
              </a:ext>
            </a:extLst>
          </p:cNvPr>
          <p:cNvSpPr/>
          <p:nvPr/>
        </p:nvSpPr>
        <p:spPr>
          <a:xfrm>
            <a:off x="839502" y="444125"/>
            <a:ext cx="7464996" cy="42552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fa-IR" sz="2000" dirty="0">
                <a:solidFill>
                  <a:schemeClr val="tx1"/>
                </a:solidFill>
              </a:rPr>
              <a:t>برای درک بهتر این فناوری، یک پروژه عملی طراحی شده است.</a:t>
            </a:r>
          </a:p>
          <a:p>
            <a:pPr algn="ctr"/>
            <a:r>
              <a:rPr lang="fa-IR" sz="2000" dirty="0">
                <a:solidFill>
                  <a:schemeClr val="tx1"/>
                </a:solidFill>
              </a:rPr>
              <a:t> در این پروژه کاربر فایل را بارگذاری می‌کند و سپس می‌تواند سوالات خود را درباره محتوای فایل بپرسد.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17509E97-35E9-0936-E07E-357C7FCC02A9}"/>
              </a:ext>
            </a:extLst>
          </p:cNvPr>
          <p:cNvSpPr/>
          <p:nvPr/>
        </p:nvSpPr>
        <p:spPr>
          <a:xfrm rot="18790770">
            <a:off x="-1525047" y="-580037"/>
            <a:ext cx="4921538" cy="2320637"/>
          </a:xfrm>
          <a:prstGeom prst="mathMinus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inus Sign 15">
            <a:extLst>
              <a:ext uri="{FF2B5EF4-FFF2-40B4-BE49-F238E27FC236}">
                <a16:creationId xmlns:a16="http://schemas.microsoft.com/office/drawing/2014/main" id="{3A5C799F-4365-1C9D-5027-AF98D4A355B0}"/>
              </a:ext>
            </a:extLst>
          </p:cNvPr>
          <p:cNvSpPr/>
          <p:nvPr/>
        </p:nvSpPr>
        <p:spPr>
          <a:xfrm rot="18790770">
            <a:off x="5979877" y="3225690"/>
            <a:ext cx="4921538" cy="2320637"/>
          </a:xfrm>
          <a:prstGeom prst="mathMinus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7386F-D28A-947E-2704-00B2B5D69A8D}"/>
              </a:ext>
            </a:extLst>
          </p:cNvPr>
          <p:cNvSpPr txBox="1"/>
          <p:nvPr/>
        </p:nvSpPr>
        <p:spPr>
          <a:xfrm>
            <a:off x="2627377" y="727261"/>
            <a:ext cx="401910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b="1" dirty="0">
                <a:solidFill>
                  <a:schemeClr val="tx1"/>
                </a:solidFill>
              </a:rPr>
              <a:t>پروژه عملی من</a:t>
            </a:r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PDF Question Answering Chatbot</a:t>
            </a:r>
            <a:endParaRPr lang="fa-IR" sz="2000" b="1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F05ED4-3142-B3B1-BB81-3C73194492FC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11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6095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D16016-111F-566D-425C-586778E79760}"/>
              </a:ext>
            </a:extLst>
          </p:cNvPr>
          <p:cNvSpPr/>
          <p:nvPr/>
        </p:nvSpPr>
        <p:spPr>
          <a:xfrm>
            <a:off x="-1" y="0"/>
            <a:ext cx="3221183" cy="51435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F43F17-D8AF-84B8-B0C6-77674485F47C}"/>
              </a:ext>
            </a:extLst>
          </p:cNvPr>
          <p:cNvSpPr/>
          <p:nvPr/>
        </p:nvSpPr>
        <p:spPr>
          <a:xfrm>
            <a:off x="1035627" y="580159"/>
            <a:ext cx="7072746" cy="3983181"/>
          </a:xfrm>
          <a:prstGeom prst="roundRect">
            <a:avLst>
              <a:gd name="adj" fmla="val 3621"/>
            </a:avLst>
          </a:prstGeom>
          <a:solidFill>
            <a:schemeClr val="bg1"/>
          </a:solidFill>
          <a:ln w="38100">
            <a:gradFill>
              <a:gsLst>
                <a:gs pos="2000">
                  <a:schemeClr val="accent1"/>
                </a:gs>
                <a:gs pos="23000">
                  <a:schemeClr val="accent2"/>
                </a:gs>
                <a:gs pos="82000">
                  <a:schemeClr val="accent5"/>
                </a:gs>
                <a:gs pos="41000">
                  <a:schemeClr val="accent3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a-IR" dirty="0">
                <a:solidFill>
                  <a:schemeClr val="tx1"/>
                </a:solidFill>
              </a:rPr>
              <a:t>1.   بارگزاری فایل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2.  استخراج متن از فایل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3.  تقسیم متن به بخش های کوچیک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4.  تبدیل هر بخش به بردار عددی 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5.  ذخیره اطلاعات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6.  دریافت سوال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7.  جستجوی بخش های مرتبط</a:t>
            </a:r>
          </a:p>
          <a:p>
            <a:pPr algn="r"/>
            <a:r>
              <a:rPr lang="fa-IR" dirty="0">
                <a:solidFill>
                  <a:schemeClr val="tx1"/>
                </a:solidFill>
              </a:rPr>
              <a:t>8.  تولید پاسخ</a:t>
            </a:r>
          </a:p>
          <a:p>
            <a:pPr algn="r"/>
            <a:endParaRPr lang="fa-IR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141D3-5F6F-58FE-BDDB-BAE14D5F1204}"/>
              </a:ext>
            </a:extLst>
          </p:cNvPr>
          <p:cNvSpPr/>
          <p:nvPr/>
        </p:nvSpPr>
        <p:spPr>
          <a:xfrm>
            <a:off x="3221182" y="4696691"/>
            <a:ext cx="5922818" cy="446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D659A8-0EF1-A20D-1AF6-C7CE22D287F7}"/>
              </a:ext>
            </a:extLst>
          </p:cNvPr>
          <p:cNvSpPr/>
          <p:nvPr/>
        </p:nvSpPr>
        <p:spPr>
          <a:xfrm>
            <a:off x="3034145" y="279688"/>
            <a:ext cx="4807528" cy="600942"/>
          </a:xfrm>
          <a:prstGeom prst="roundRect">
            <a:avLst/>
          </a:prstGeom>
          <a:solidFill>
            <a:schemeClr val="bg1"/>
          </a:solidFill>
          <a:ln>
            <a:solidFill>
              <a:srgbClr val="2F435A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a-IR" sz="2400" b="1" dirty="0">
                <a:solidFill>
                  <a:schemeClr val="tx1"/>
                </a:solidFill>
              </a:rPr>
              <a:t>مراحل پیاده‌سازی پروژه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783F2-4FBA-FD72-E2C2-72E0AF852641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12/15</a:t>
            </a:r>
            <a:endParaRPr lang="en-US" dirty="0">
              <a:solidFill>
                <a:schemeClr val="bg1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FE985B-588F-9D4A-C454-227B09D50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39" t="14713" r="25906" b="5203"/>
          <a:stretch/>
        </p:blipFill>
        <p:spPr>
          <a:xfrm>
            <a:off x="1385303" y="720436"/>
            <a:ext cx="1461806" cy="359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56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AF2332-FE7C-8C67-C8F2-5C9EEF3AE720}"/>
              </a:ext>
            </a:extLst>
          </p:cNvPr>
          <p:cNvSpPr/>
          <p:nvPr/>
        </p:nvSpPr>
        <p:spPr>
          <a:xfrm>
            <a:off x="0" y="4689764"/>
            <a:ext cx="9144000" cy="453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719F0E7-D864-DD45-CCB6-64F73BF050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3969011"/>
              </p:ext>
            </p:extLst>
          </p:nvPr>
        </p:nvGraphicFramePr>
        <p:xfrm>
          <a:off x="952500" y="942110"/>
          <a:ext cx="7737764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77EEF7C-5B5E-6BBE-8909-65E4D940888D}"/>
              </a:ext>
            </a:extLst>
          </p:cNvPr>
          <p:cNvGrpSpPr/>
          <p:nvPr/>
        </p:nvGrpSpPr>
        <p:grpSpPr>
          <a:xfrm>
            <a:off x="-591269" y="2015550"/>
            <a:ext cx="1681301" cy="672520"/>
            <a:chOff x="1889" y="1073439"/>
            <a:chExt cx="1681301" cy="672520"/>
          </a:xfrm>
          <a:solidFill>
            <a:schemeClr val="accent3">
              <a:lumMod val="75000"/>
            </a:schemeClr>
          </a:solidFill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80EE1958-9557-4A0B-0455-5B7532A59987}"/>
                </a:ext>
              </a:extLst>
            </p:cNvPr>
            <p:cNvSpPr/>
            <p:nvPr/>
          </p:nvSpPr>
          <p:spPr>
            <a:xfrm>
              <a:off x="1889" y="1073439"/>
              <a:ext cx="1681301" cy="67252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Arrow: Chevron 4">
              <a:extLst>
                <a:ext uri="{FF2B5EF4-FFF2-40B4-BE49-F238E27FC236}">
                  <a16:creationId xmlns:a16="http://schemas.microsoft.com/office/drawing/2014/main" id="{1D4F578E-C78F-5247-EC1D-F5901565B0BE}"/>
                </a:ext>
              </a:extLst>
            </p:cNvPr>
            <p:cNvSpPr txBox="1"/>
            <p:nvPr/>
          </p:nvSpPr>
          <p:spPr>
            <a:xfrm>
              <a:off x="338149" y="1073439"/>
              <a:ext cx="1008781" cy="67252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0020" tIns="53340" rIns="53340" bIns="5334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 dirty="0"/>
            </a:p>
          </p:txBody>
        </p:sp>
      </p:grpSp>
      <p:sp>
        <p:nvSpPr>
          <p:cNvPr id="8" name="Arrow: Left 7">
            <a:extLst>
              <a:ext uri="{FF2B5EF4-FFF2-40B4-BE49-F238E27FC236}">
                <a16:creationId xmlns:a16="http://schemas.microsoft.com/office/drawing/2014/main" id="{4D86FA7F-3A8F-2C22-7B86-3B12F2792192}"/>
              </a:ext>
            </a:extLst>
          </p:cNvPr>
          <p:cNvSpPr/>
          <p:nvPr/>
        </p:nvSpPr>
        <p:spPr>
          <a:xfrm flipH="1">
            <a:off x="7578436" y="1691986"/>
            <a:ext cx="1510146" cy="1319647"/>
          </a:xfrm>
          <a:prstGeom prst="leftArrow">
            <a:avLst/>
          </a:prstGeom>
          <a:solidFill>
            <a:srgbClr val="999D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C9819-6608-FDA5-009D-3C0102629A65}"/>
              </a:ext>
            </a:extLst>
          </p:cNvPr>
          <p:cNvSpPr txBox="1"/>
          <p:nvPr/>
        </p:nvSpPr>
        <p:spPr>
          <a:xfrm>
            <a:off x="1090032" y="2763124"/>
            <a:ext cx="1236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400" dirty="0"/>
              <a:t>زبان اصلی پروژه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8D8C6-04FF-6A15-CB58-67687A317BAC}"/>
              </a:ext>
            </a:extLst>
          </p:cNvPr>
          <p:cNvSpPr txBox="1"/>
          <p:nvPr/>
        </p:nvSpPr>
        <p:spPr>
          <a:xfrm>
            <a:off x="2579395" y="1538097"/>
            <a:ext cx="1396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RAG</a:t>
            </a:r>
            <a:r>
              <a:rPr lang="fa-IR" sz="1400" dirty="0"/>
              <a:t>مدیریت فرآیند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7F4B1-A8AF-1464-17D4-44462CDF794C}"/>
              </a:ext>
            </a:extLst>
          </p:cNvPr>
          <p:cNvSpPr txBox="1"/>
          <p:nvPr/>
        </p:nvSpPr>
        <p:spPr>
          <a:xfrm>
            <a:off x="3870318" y="2784536"/>
            <a:ext cx="1699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400"/>
              <a:t>ذخیره و جستجوی بردارها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C97C53-54D0-ABDA-B283-FCA92B1DA2B4}"/>
              </a:ext>
            </a:extLst>
          </p:cNvPr>
          <p:cNvSpPr txBox="1"/>
          <p:nvPr/>
        </p:nvSpPr>
        <p:spPr>
          <a:xfrm>
            <a:off x="5286016" y="1548505"/>
            <a:ext cx="1672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400"/>
              <a:t>ساخت رابط کاربری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58FD43-3745-368B-84A5-BDC2179C400F}"/>
              </a:ext>
            </a:extLst>
          </p:cNvPr>
          <p:cNvSpPr txBox="1"/>
          <p:nvPr/>
        </p:nvSpPr>
        <p:spPr>
          <a:xfrm>
            <a:off x="2892136" y="137770"/>
            <a:ext cx="3359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400" b="1" dirty="0"/>
              <a:t>ابزارهای استفاده شده</a:t>
            </a:r>
            <a:endParaRPr lang="en-US" sz="2400" b="1" dirty="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8B12300-E5C9-EDF0-0BAC-26E70C5DA1DB}"/>
              </a:ext>
            </a:extLst>
          </p:cNvPr>
          <p:cNvSpPr/>
          <p:nvPr/>
        </p:nvSpPr>
        <p:spPr>
          <a:xfrm>
            <a:off x="0" y="4502727"/>
            <a:ext cx="581891" cy="640773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6E83980F-272B-B742-DAB3-DCEA1C744E0D}"/>
              </a:ext>
            </a:extLst>
          </p:cNvPr>
          <p:cNvSpPr/>
          <p:nvPr/>
        </p:nvSpPr>
        <p:spPr>
          <a:xfrm flipH="1" flipV="1">
            <a:off x="8557633" y="-14630"/>
            <a:ext cx="648713" cy="550492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8492BE84-184A-CEE8-8D10-8E007406E998}"/>
              </a:ext>
            </a:extLst>
          </p:cNvPr>
          <p:cNvSpPr/>
          <p:nvPr/>
        </p:nvSpPr>
        <p:spPr>
          <a:xfrm>
            <a:off x="187035" y="47328"/>
            <a:ext cx="180109" cy="153566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960F141-ABF5-D8A7-4C07-75C641242462}"/>
              </a:ext>
            </a:extLst>
          </p:cNvPr>
          <p:cNvSpPr/>
          <p:nvPr/>
        </p:nvSpPr>
        <p:spPr>
          <a:xfrm rot="3438192">
            <a:off x="96980" y="241372"/>
            <a:ext cx="180109" cy="153566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47B20F0-E851-F789-01DB-A249B7DB69B2}"/>
              </a:ext>
            </a:extLst>
          </p:cNvPr>
          <p:cNvSpPr/>
          <p:nvPr/>
        </p:nvSpPr>
        <p:spPr>
          <a:xfrm rot="19232638">
            <a:off x="243667" y="357886"/>
            <a:ext cx="180109" cy="153566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9D5D7DF-9FD7-CFD3-9C87-9390D36EFE78}"/>
              </a:ext>
            </a:extLst>
          </p:cNvPr>
          <p:cNvSpPr/>
          <p:nvPr/>
        </p:nvSpPr>
        <p:spPr>
          <a:xfrm>
            <a:off x="526825" y="8059"/>
            <a:ext cx="180109" cy="153566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92E3175-2CF6-DE48-ECF0-EDA8D4100432}"/>
              </a:ext>
            </a:extLst>
          </p:cNvPr>
          <p:cNvSpPr/>
          <p:nvPr/>
        </p:nvSpPr>
        <p:spPr>
          <a:xfrm rot="3438192">
            <a:off x="436770" y="202103"/>
            <a:ext cx="180109" cy="153566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51C2F8E-6994-2B30-BE22-CB9BEBC325CF}"/>
              </a:ext>
            </a:extLst>
          </p:cNvPr>
          <p:cNvSpPr/>
          <p:nvPr/>
        </p:nvSpPr>
        <p:spPr>
          <a:xfrm rot="19232638">
            <a:off x="583457" y="318617"/>
            <a:ext cx="180109" cy="153566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5F040F7-DFCE-68DC-AA18-AB5E601A16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18" b="95788" l="9918" r="96875">
                        <a14:foregroundMark x1="12500" y1="20652" x2="22690" y2="19158"/>
                        <a14:foregroundMark x1="22690" y1="19158" x2="29755" y2="20380"/>
                        <a14:foregroundMark x1="12092" y1="21739" x2="24049" y2="18207"/>
                        <a14:foregroundMark x1="24049" y1="18207" x2="30435" y2="23370"/>
                        <a14:foregroundMark x1="86957" y1="79212" x2="94293" y2="93207"/>
                        <a14:foregroundMark x1="94293" y1="93207" x2="96875" y2="957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4286" y="2938424"/>
            <a:ext cx="2279364" cy="22793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D32B44F-AF84-F81D-1EAB-379D6EE2C073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13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17023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00B662-23A1-C647-1AB3-36C55AC95C2D}"/>
              </a:ext>
            </a:extLst>
          </p:cNvPr>
          <p:cNvSpPr/>
          <p:nvPr/>
        </p:nvSpPr>
        <p:spPr>
          <a:xfrm>
            <a:off x="0" y="4689764"/>
            <a:ext cx="9144000" cy="453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136586-3A98-88F7-936D-2B9A188DEEA4}"/>
              </a:ext>
            </a:extLst>
          </p:cNvPr>
          <p:cNvSpPr/>
          <p:nvPr/>
        </p:nvSpPr>
        <p:spPr>
          <a:xfrm>
            <a:off x="-83127" y="-1"/>
            <a:ext cx="9289472" cy="5320145"/>
          </a:xfrm>
          <a:prstGeom prst="rect">
            <a:avLst/>
          </a:prstGeom>
          <a:solidFill>
            <a:srgbClr val="B6B9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4F4F18-C7E8-6BF1-9850-8CE11EEE50D6}"/>
              </a:ext>
            </a:extLst>
          </p:cNvPr>
          <p:cNvSpPr/>
          <p:nvPr/>
        </p:nvSpPr>
        <p:spPr>
          <a:xfrm>
            <a:off x="1427018" y="-173182"/>
            <a:ext cx="5908964" cy="5569527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b="1" dirty="0">
                <a:solidFill>
                  <a:schemeClr val="tx1"/>
                </a:solidFill>
              </a:rPr>
              <a:t>نتیجه‌گیری</a:t>
            </a:r>
          </a:p>
          <a:p>
            <a:pPr algn="ctr"/>
            <a:endParaRPr lang="fa-IR" dirty="0"/>
          </a:p>
          <a:p>
            <a:pPr algn="ctr"/>
            <a:r>
              <a:rPr lang="fa-IR" dirty="0">
                <a:solidFill>
                  <a:schemeClr val="tx1"/>
                </a:solidFill>
              </a:rPr>
              <a:t>فناوری تولید متن تقویت‌شده با بازیابی اطلاعات یکی از مهم‌ترین پیشرفت‌های اخیر در حوزه هوش مصنوعی است. این فناوری با استفاده از اطلاعات واقعی و مدل‌های زبانی، پاسخ‌های دقیق‌تر و قابل اعتمادتر تولید می‌کند و امروزه در بسیاری از سامانه‌های هوشمند مورد استفاده قرار می‌گیرد.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A0B1D-C2A5-21B9-40C5-52F91E7FA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46" b="89946" l="9783" r="89946">
                        <a14:foregroundMark x1="48913" y1="9171" x2="48913" y2="9171"/>
                        <a14:foregroundMark x1="52174" y1="6046" x2="52174" y2="60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3693535" y="-2322368"/>
            <a:ext cx="1375930" cy="37026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5C394B-F2EF-D19C-F4A3-E9384761069B}"/>
              </a:ext>
            </a:extLst>
          </p:cNvPr>
          <p:cNvSpPr txBox="1"/>
          <p:nvPr/>
        </p:nvSpPr>
        <p:spPr>
          <a:xfrm>
            <a:off x="-169045" y="5039134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14</a:t>
            </a:r>
            <a:r>
              <a:rPr lang="en-US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/</a:t>
            </a:r>
            <a:r>
              <a:rPr lang="fa-IR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15</a:t>
            </a:r>
            <a:endParaRPr lang="en-US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439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3ED67A-4AE0-A3F7-93FF-1084F0CAC1BB}"/>
              </a:ext>
            </a:extLst>
          </p:cNvPr>
          <p:cNvSpPr/>
          <p:nvPr/>
        </p:nvSpPr>
        <p:spPr>
          <a:xfrm>
            <a:off x="0" y="-61580"/>
            <a:ext cx="9356651" cy="5266660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C701F1-67F1-A8D8-7DA9-BD06BA790EF9}"/>
              </a:ext>
            </a:extLst>
          </p:cNvPr>
          <p:cNvSpPr/>
          <p:nvPr/>
        </p:nvSpPr>
        <p:spPr>
          <a:xfrm>
            <a:off x="6060560" y="3193795"/>
            <a:ext cx="1206150" cy="11565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840D0D-6931-B099-D25D-60E7FEC4BACE}"/>
              </a:ext>
            </a:extLst>
          </p:cNvPr>
          <p:cNvSpPr/>
          <p:nvPr/>
        </p:nvSpPr>
        <p:spPr>
          <a:xfrm>
            <a:off x="2183219" y="272681"/>
            <a:ext cx="4777562" cy="4598138"/>
          </a:xfrm>
          <a:prstGeom prst="ellipse">
            <a:avLst/>
          </a:prstGeom>
          <a:solidFill>
            <a:srgbClr val="425F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fa-IR" sz="4400" b="1" dirty="0">
                <a:solidFill>
                  <a:schemeClr val="bg1"/>
                </a:solidFill>
                <a:latin typeface="+mj-lt"/>
              </a:rPr>
              <a:t>با تشکر از توجه شما </a:t>
            </a:r>
            <a:br>
              <a:rPr lang="en-US" sz="4400" b="1" dirty="0">
                <a:solidFill>
                  <a:schemeClr val="bg1"/>
                </a:solidFill>
                <a:latin typeface="+mj-lt"/>
              </a:rPr>
            </a:br>
            <a:endParaRPr lang="en-GB" sz="4400" b="1" dirty="0">
              <a:solidFill>
                <a:schemeClr val="bg1"/>
              </a:solidFill>
              <a:latin typeface="+mj-lt"/>
            </a:endParaRPr>
          </a:p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3D468C-59BA-EE9F-D24A-0E27F1F3F8C9}"/>
              </a:ext>
            </a:extLst>
          </p:cNvPr>
          <p:cNvSpPr/>
          <p:nvPr/>
        </p:nvSpPr>
        <p:spPr>
          <a:xfrm>
            <a:off x="2119424" y="3430772"/>
            <a:ext cx="964018" cy="971107"/>
          </a:xfrm>
          <a:prstGeom prst="ellipse">
            <a:avLst/>
          </a:prstGeom>
          <a:solidFill>
            <a:srgbClr val="425F7E"/>
          </a:solidFill>
          <a:ln w="76200">
            <a:solidFill>
              <a:srgbClr val="EB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55A1E1-34CC-5125-97CE-4DFC6A725922}"/>
              </a:ext>
            </a:extLst>
          </p:cNvPr>
          <p:cNvSpPr/>
          <p:nvPr/>
        </p:nvSpPr>
        <p:spPr>
          <a:xfrm>
            <a:off x="5975498" y="673395"/>
            <a:ext cx="637953" cy="6166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44A4D6-C39A-110C-2466-DAA2D2B26390}"/>
              </a:ext>
            </a:extLst>
          </p:cNvPr>
          <p:cNvSpPr/>
          <p:nvPr/>
        </p:nvSpPr>
        <p:spPr>
          <a:xfrm>
            <a:off x="1115856" y="762000"/>
            <a:ext cx="498763" cy="4779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6FCDEE-DF2F-5431-35A7-86B0206EF1EC}"/>
              </a:ext>
            </a:extLst>
          </p:cNvPr>
          <p:cNvSpPr/>
          <p:nvPr/>
        </p:nvSpPr>
        <p:spPr>
          <a:xfrm>
            <a:off x="8125692" y="173183"/>
            <a:ext cx="810490" cy="782782"/>
          </a:xfrm>
          <a:prstGeom prst="ellipse">
            <a:avLst/>
          </a:prstGeom>
          <a:noFill/>
          <a:ln w="165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7292274-AA9C-941B-B473-8C08E54F33DA}"/>
              </a:ext>
            </a:extLst>
          </p:cNvPr>
          <p:cNvSpPr/>
          <p:nvPr/>
        </p:nvSpPr>
        <p:spPr>
          <a:xfrm rot="10800000">
            <a:off x="8518450" y="3967556"/>
            <a:ext cx="353291" cy="26839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5789FE8-9163-DFF9-D0E9-9B9FF8C7D7C5}"/>
              </a:ext>
            </a:extLst>
          </p:cNvPr>
          <p:cNvSpPr/>
          <p:nvPr/>
        </p:nvSpPr>
        <p:spPr>
          <a:xfrm rot="10800000">
            <a:off x="8520541" y="3854142"/>
            <a:ext cx="353291" cy="268392"/>
          </a:xfrm>
          <a:prstGeom prst="triangle">
            <a:avLst/>
          </a:prstGeom>
          <a:solidFill>
            <a:srgbClr val="EB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160EC17-9A93-A036-3040-B0BA091F5F18}"/>
              </a:ext>
            </a:extLst>
          </p:cNvPr>
          <p:cNvSpPr/>
          <p:nvPr/>
        </p:nvSpPr>
        <p:spPr>
          <a:xfrm rot="10800000">
            <a:off x="8513614" y="3678382"/>
            <a:ext cx="353291" cy="26839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C8B0014-4F25-C632-F20F-D63D4276A0F8}"/>
              </a:ext>
            </a:extLst>
          </p:cNvPr>
          <p:cNvSpPr/>
          <p:nvPr/>
        </p:nvSpPr>
        <p:spPr>
          <a:xfrm rot="10800000">
            <a:off x="8513614" y="3564968"/>
            <a:ext cx="353291" cy="268392"/>
          </a:xfrm>
          <a:prstGeom prst="triangle">
            <a:avLst/>
          </a:prstGeom>
          <a:solidFill>
            <a:srgbClr val="EB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F58598F-14BD-3B99-9D65-1819B0B6D036}"/>
              </a:ext>
            </a:extLst>
          </p:cNvPr>
          <p:cNvSpPr/>
          <p:nvPr/>
        </p:nvSpPr>
        <p:spPr>
          <a:xfrm rot="10800000">
            <a:off x="8499764" y="3430772"/>
            <a:ext cx="353291" cy="26839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E56E043-8D33-3925-D110-15556AE3EE35}"/>
              </a:ext>
            </a:extLst>
          </p:cNvPr>
          <p:cNvSpPr/>
          <p:nvPr/>
        </p:nvSpPr>
        <p:spPr>
          <a:xfrm rot="10800000">
            <a:off x="8499764" y="3317358"/>
            <a:ext cx="353291" cy="268392"/>
          </a:xfrm>
          <a:prstGeom prst="triangle">
            <a:avLst/>
          </a:prstGeom>
          <a:solidFill>
            <a:srgbClr val="EBF0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B38771-0978-FEDA-8BB5-72689422C3A5}"/>
              </a:ext>
            </a:extLst>
          </p:cNvPr>
          <p:cNvSpPr/>
          <p:nvPr/>
        </p:nvSpPr>
        <p:spPr>
          <a:xfrm>
            <a:off x="-659460" y="3699165"/>
            <a:ext cx="1956632" cy="1982650"/>
          </a:xfrm>
          <a:prstGeom prst="ellipse">
            <a:avLst/>
          </a:prstGeom>
          <a:noFill/>
          <a:ln w="5080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9C7F827-7387-7E8D-A9B9-1891B232EDDA}"/>
              </a:ext>
            </a:extLst>
          </p:cNvPr>
          <p:cNvSpPr/>
          <p:nvPr/>
        </p:nvSpPr>
        <p:spPr>
          <a:xfrm>
            <a:off x="710611" y="2438200"/>
            <a:ext cx="246320" cy="248293"/>
          </a:xfrm>
          <a:prstGeom prst="ellipse">
            <a:avLst/>
          </a:prstGeom>
          <a:noFill/>
          <a:ln w="952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8B71BB-DE3B-F5B1-E0ED-B378127DE7C7}"/>
              </a:ext>
            </a:extLst>
          </p:cNvPr>
          <p:cNvSpPr txBox="1"/>
          <p:nvPr/>
        </p:nvSpPr>
        <p:spPr>
          <a:xfrm>
            <a:off x="-62347" y="4881796"/>
            <a:ext cx="103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rgbClr val="2F435A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15/15</a:t>
            </a:r>
            <a:endParaRPr lang="en-US" dirty="0">
              <a:solidFill>
                <a:srgbClr val="2F435A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093361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6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2F435A"/>
      </a:accent1>
      <a:accent2>
        <a:srgbClr val="2F435A"/>
      </a:accent2>
      <a:accent3>
        <a:srgbClr val="2F435A"/>
      </a:accent3>
      <a:accent4>
        <a:srgbClr val="2F435A"/>
      </a:accent4>
      <a:accent5>
        <a:srgbClr val="2F435A"/>
      </a:accent5>
      <a:accent6>
        <a:srgbClr val="2F435A"/>
      </a:accent6>
      <a:hlink>
        <a:srgbClr val="2F435A"/>
      </a:hlink>
      <a:folHlink>
        <a:srgbClr val="2F435A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1243</TotalTime>
  <Words>757</Words>
  <Application>Microsoft Office PowerPoint</Application>
  <PresentationFormat>On-screen Show (16:9)</PresentationFormat>
  <Paragraphs>139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Tahoma</vt:lpstr>
      <vt:lpstr>Arial</vt:lpstr>
      <vt:lpstr>Shabnam</vt:lpstr>
      <vt:lpstr>Calibri Light</vt:lpstr>
      <vt:lpstr>Calibri</vt:lpstr>
      <vt:lpstr>Arabic Typesetting</vt:lpstr>
      <vt:lpstr>Retrospect</vt:lpstr>
      <vt:lpstr>PowerPoint Presentation</vt:lpstr>
      <vt:lpstr>PowerPoint Presentation</vt:lpstr>
      <vt:lpstr>امروزه مدل‌های زبانی توانایی پاسخگویی به سوالات مختلف را دارند. اما این مدل‌ها همیشه به جدیدترین اطلاعات دسترسی ندارند و گاهی پاسخ‌های اشتباه تولید می‌کنند. این فناوری یکی از مهم‌ترین روش‌های جدید در هوش مصنوعی است که با ترکیب جستجوی اطلاعات و مدل‌های زبانی، پاسخ‌های دقیق‌تر و قابل اعتمادتر تولید می‌کند. </vt:lpstr>
      <vt:lpstr>PowerPoint Presentation</vt:lpstr>
      <vt:lpstr>RAG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the text of your slides</dc:title>
  <dc:creator>Elham-PC</dc:creator>
  <cp:lastModifiedBy>Fatemeh</cp:lastModifiedBy>
  <cp:revision>108</cp:revision>
  <dcterms:modified xsi:type="dcterms:W3CDTF">2026-06-11T14:15:28Z</dcterms:modified>
</cp:coreProperties>
</file>